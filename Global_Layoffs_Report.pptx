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241e823-d98f-67e9-f89b-ac75acebaf68}">
          <p14:sldIdLst>
            <p14:sldId id="256"/>
          </p14:sldIdLst>
        </p14:section>
        <p14:section name="Overview" id="{b95391d2-9296-769b-02bc-c2b65f423a46}">
          <p14:sldIdLst>
            <p14:sldId id="257"/>
            <p14:sldId id="258"/>
          </p14:sldIdLst>
        </p14:section>
        <p14:section name="Breakdowns" id="{8e33707f-8d5d-6154-65a5-26d1a05bec47}">
          <p14:sldIdLst>
            <p14:sldId id="259"/>
            <p14:sldId id="260"/>
            <p14:sldId id="261"/>
            <p14:sldId id="262"/>
            <p14:sldId id="263"/>
            <p14:sldId id="264"/>
          </p14:sldIdLst>
        </p14:section>
        <p14:section name="Quality" id="{140906e2-100f-594f-17ca-481209ba9dac}">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per year</a:t>
            </a:r>
          </a:p>
        </c:rich>
      </c:tx>
      <c:layout/>
      <c:overlay val="0"/>
    </c:title>
    <c:autoTitleDeleted val="0"/>
    <c:plotArea>
      <c:layout/>
      <c:barChart>
        <c:barDir val="col"/>
        <c:grouping val="clustered"/>
        <c:varyColors val="0"/>
        <c:ser>
          <c:idx val="0"/>
          <c:order val="0"/>
          <c:tx>
            <c:strRef>
              <c:f>Sheet1!$B$1</c:f>
              <c:strCache>
                <c:ptCount val="1"/>
                <c:pt idx="0">
                  <c:v>Employees laid off per year</c:v>
                </c:pt>
              </c:strCache>
            </c:strRef>
          </c:tx>
          <c:spPr>
            <a:solidFill>
              <a:srgbClr val="9AA5B1"/>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C0392B"/>
              </a:solidFill>
              <a:effectLst/>
            </c:spPr>
          </c:dPt>
          <c:dPt>
            <c:idx val="4"/>
            <c:invertIfNegative val="0"/>
            <c:bubble3D val="0"/>
            <c:spPr>
              <a:solidFill>
                <a:srgbClr val="9AA5B1"/>
              </a:solidFill>
              <a:effectLst/>
            </c:spPr>
          </c:dPt>
          <c:dPt>
            <c:idx val="5"/>
            <c:invertIfNegative val="0"/>
            <c:bubble3D val="0"/>
            <c:spPr>
              <a:solidFill>
                <a:srgbClr val="9AA5B1"/>
              </a:solidFill>
              <a:effectLst/>
            </c:spPr>
          </c:dPt>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80998</c:v>
                </c:pt>
                <c:pt idx="1">
                  <c:v>15823</c:v>
                </c:pt>
                <c:pt idx="2">
                  <c:v>165269</c:v>
                </c:pt>
                <c:pt idx="3">
                  <c:v>264220</c:v>
                </c:pt>
                <c:pt idx="4">
                  <c:v>152922</c:v>
                </c:pt>
                <c:pt idx="5">
                  <c:v>72808</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top 10 companies</a:t>
            </a:r>
          </a:p>
        </c:rich>
      </c:tx>
      <c:layout/>
      <c:overlay val="0"/>
    </c:title>
    <c:autoTitleDeleted val="0"/>
    <c:plotArea>
      <c:layout/>
      <c:barChart>
        <c:barDir val="bar"/>
        <c:grouping val="clustered"/>
        <c:varyColors val="0"/>
        <c:ser>
          <c:idx val="0"/>
          <c:order val="0"/>
          <c:tx>
            <c:strRef>
              <c:f>Sheet1!$B$1</c:f>
              <c:strCache>
                <c:ptCount val="1"/>
                <c:pt idx="0">
                  <c:v>Employees laid off, top 10 companies</c:v>
                </c:pt>
              </c:strCache>
            </c:strRef>
          </c:tx>
          <c:spPr>
            <a:solidFill>
              <a:srgbClr val="C0392B"/>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C0392B"/>
              </a:solidFill>
              <a:effectLst/>
            </c:spPr>
          </c:dPt>
          <c:dPt>
            <c:idx val="5"/>
            <c:invertIfNegative val="0"/>
            <c:bubble3D val="0"/>
            <c:spPr>
              <a:solidFill>
                <a:srgbClr val="C0392B"/>
              </a:solidFill>
              <a:effectLst/>
            </c:spPr>
          </c:dPt>
          <c:dPt>
            <c:idx val="6"/>
            <c:invertIfNegative val="0"/>
            <c:bubble3D val="0"/>
            <c:spPr>
              <a:solidFill>
                <a:srgbClr val="C0392B"/>
              </a:solidFill>
              <a:effectLst/>
            </c:spPr>
          </c:dPt>
          <c:dPt>
            <c:idx val="7"/>
            <c:invertIfNegative val="0"/>
            <c:bubble3D val="0"/>
            <c:spPr>
              <a:solidFill>
                <a:srgbClr val="C0392B"/>
              </a:solidFill>
              <a:effectLst/>
            </c:spPr>
          </c:dPt>
          <c:dPt>
            <c:idx val="8"/>
            <c:invertIfNegative val="0"/>
            <c:bubble3D val="0"/>
            <c:spPr>
              <a:solidFill>
                <a:srgbClr val="C0392B"/>
              </a:solidFill>
              <a:effectLst/>
            </c:spPr>
          </c:dPt>
          <c:dPt>
            <c:idx val="9"/>
            <c:invertIfNegative val="0"/>
            <c:bubble3D val="0"/>
            <c:spPr>
              <a:solidFill>
                <a:srgbClr val="C0392B"/>
              </a:solidFill>
              <a:effectLst/>
            </c:spPr>
          </c:dPt>
          <c:cat>
            <c:multiLvlStrRef>
              <c:f>Sheet1!$A$2:$A$11</c:f>
              <c:multiLvlStrCache>
                <c:ptCount val="10"/>
                <c:lvl>
                  <c:pt idx="0">
                    <c:v>Intel</c:v>
                  </c:pt>
                  <c:pt idx="1">
                    <c:v>Microsoft</c:v>
                  </c:pt>
                  <c:pt idx="2">
                    <c:v>Amazon</c:v>
                  </c:pt>
                  <c:pt idx="3">
                    <c:v>Meta</c:v>
                  </c:pt>
                  <c:pt idx="4">
                    <c:v>Tesla</c:v>
                  </c:pt>
                  <c:pt idx="5">
                    <c:v>Cisco</c:v>
                  </c:pt>
                  <c:pt idx="6">
                    <c:v>Google</c:v>
                  </c:pt>
                  <c:pt idx="7">
                    <c:v>Dell</c:v>
                  </c:pt>
                  <c:pt idx="8">
                    <c:v>Salesforce</c:v>
                  </c:pt>
                  <c:pt idx="9">
                    <c:v>SAP</c:v>
                  </c:pt>
                </c:lvl>
              </c:multiLvlStrCache>
            </c:multiLvlStrRef>
          </c:cat>
          <c:val>
            <c:numRef>
              <c:f>Sheet1!$B$2:$B$11</c:f>
              <c:numCache>
                <c:formatCode>General</c:formatCode>
                <c:ptCount val="10"/>
                <c:pt idx="0">
                  <c:v>38115</c:v>
                </c:pt>
                <c:pt idx="1">
                  <c:v>30013</c:v>
                </c:pt>
                <c:pt idx="2">
                  <c:v>27940</c:v>
                </c:pt>
                <c:pt idx="3">
                  <c:v>24700</c:v>
                </c:pt>
                <c:pt idx="4">
                  <c:v>14500</c:v>
                </c:pt>
                <c:pt idx="5">
                  <c:v>14300</c:v>
                </c:pt>
                <c:pt idx="6">
                  <c:v>13547</c:v>
                </c:pt>
                <c:pt idx="7">
                  <c:v>12650</c:v>
                </c:pt>
                <c:pt idx="8">
                  <c:v>12140</c:v>
                </c:pt>
                <c:pt idx="9">
                  <c:v>11000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top 10 industries</a:t>
            </a:r>
          </a:p>
        </c:rich>
      </c:tx>
      <c:layout/>
      <c:overlay val="0"/>
    </c:title>
    <c:autoTitleDeleted val="0"/>
    <c:plotArea>
      <c:layout/>
      <c:barChart>
        <c:barDir val="bar"/>
        <c:grouping val="clustered"/>
        <c:varyColors val="0"/>
        <c:ser>
          <c:idx val="0"/>
          <c:order val="0"/>
          <c:tx>
            <c:strRef>
              <c:f>Sheet1!$B$1</c:f>
              <c:strCache>
                <c:ptCount val="1"/>
                <c:pt idx="0">
                  <c:v>Employees laid off, top 10 industries</c:v>
                </c:pt>
              </c:strCache>
            </c:strRef>
          </c:tx>
          <c:spPr>
            <a:solidFill>
              <a:srgbClr val="C0392B"/>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C0392B"/>
              </a:solidFill>
              <a:effectLst/>
            </c:spPr>
          </c:dPt>
          <c:dPt>
            <c:idx val="5"/>
            <c:invertIfNegative val="0"/>
            <c:bubble3D val="0"/>
            <c:spPr>
              <a:solidFill>
                <a:srgbClr val="C0392B"/>
              </a:solidFill>
              <a:effectLst/>
            </c:spPr>
          </c:dPt>
          <c:dPt>
            <c:idx val="6"/>
            <c:invertIfNegative val="0"/>
            <c:bubble3D val="0"/>
            <c:spPr>
              <a:solidFill>
                <a:srgbClr val="C0392B"/>
              </a:solidFill>
              <a:effectLst/>
            </c:spPr>
          </c:dPt>
          <c:dPt>
            <c:idx val="7"/>
            <c:invertIfNegative val="0"/>
            <c:bubble3D val="0"/>
            <c:spPr>
              <a:solidFill>
                <a:srgbClr val="C0392B"/>
              </a:solidFill>
              <a:effectLst/>
            </c:spPr>
          </c:dPt>
          <c:dPt>
            <c:idx val="8"/>
            <c:invertIfNegative val="0"/>
            <c:bubble3D val="0"/>
            <c:spPr>
              <a:solidFill>
                <a:srgbClr val="C0392B"/>
              </a:solidFill>
              <a:effectLst/>
            </c:spPr>
          </c:dPt>
          <c:dPt>
            <c:idx val="9"/>
            <c:invertIfNegative val="0"/>
            <c:bubble3D val="0"/>
            <c:spPr>
              <a:solidFill>
                <a:srgbClr val="C0392B"/>
              </a:solidFill>
              <a:effectLst/>
            </c:spPr>
          </c:dPt>
          <c:cat>
            <c:multiLvlStrRef>
              <c:f>Sheet1!$A$2:$A$11</c:f>
              <c:multiLvlStrCache>
                <c:ptCount val="10"/>
                <c:lvl>
                  <c:pt idx="0">
                    <c:v>Hardware</c:v>
                  </c:pt>
                  <c:pt idx="1">
                    <c:v>Other</c:v>
                  </c:pt>
                  <c:pt idx="2">
                    <c:v>Consumer</c:v>
                  </c:pt>
                  <c:pt idx="3">
                    <c:v>Retail</c:v>
                  </c:pt>
                  <c:pt idx="4">
                    <c:v>Transportation</c:v>
                  </c:pt>
                  <c:pt idx="5">
                    <c:v>Finance</c:v>
                  </c:pt>
                  <c:pt idx="6">
                    <c:v>Food</c:v>
                  </c:pt>
                  <c:pt idx="7">
                    <c:v>Healthcare</c:v>
                  </c:pt>
                  <c:pt idx="8">
                    <c:v>Travel</c:v>
                  </c:pt>
                  <c:pt idx="9">
                    <c:v>Infrastructure</c:v>
                  </c:pt>
                </c:lvl>
              </c:multiLvlStrCache>
            </c:multiLvlStrRef>
          </c:cat>
          <c:val>
            <c:numRef>
              <c:f>Sheet1!$B$2:$B$11</c:f>
              <c:numCache>
                <c:formatCode>General</c:formatCode>
                <c:ptCount val="10"/>
                <c:pt idx="0">
                  <c:v>81428</c:v>
                </c:pt>
                <c:pt idx="1">
                  <c:v>80491</c:v>
                </c:pt>
                <c:pt idx="2">
                  <c:v>76468</c:v>
                </c:pt>
                <c:pt idx="3">
                  <c:v>73721</c:v>
                </c:pt>
                <c:pt idx="4">
                  <c:v>64066</c:v>
                </c:pt>
                <c:pt idx="5">
                  <c:v>52173</c:v>
                </c:pt>
                <c:pt idx="6">
                  <c:v>49584</c:v>
                </c:pt>
                <c:pt idx="7">
                  <c:v>38726</c:v>
                </c:pt>
                <c:pt idx="8">
                  <c:v>23370</c:v>
                </c:pt>
                <c:pt idx="9">
                  <c:v>20614</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top 8 countries</a:t>
            </a:r>
          </a:p>
        </c:rich>
      </c:tx>
      <c:layout/>
      <c:overlay val="0"/>
    </c:title>
    <c:autoTitleDeleted val="0"/>
    <c:plotArea>
      <c:layout/>
      <c:barChart>
        <c:barDir val="bar"/>
        <c:grouping val="clustered"/>
        <c:varyColors val="0"/>
        <c:ser>
          <c:idx val="0"/>
          <c:order val="0"/>
          <c:tx>
            <c:strRef>
              <c:f>Sheet1!$B$1</c:f>
              <c:strCache>
                <c:ptCount val="1"/>
                <c:pt idx="0">
                  <c:v>Employees laid off, top 8 countries</c:v>
                </c:pt>
              </c:strCache>
            </c:strRef>
          </c:tx>
          <c:spPr>
            <a:solidFill>
              <a:srgbClr val="C0392B"/>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C0392B"/>
              </a:solidFill>
              <a:effectLst/>
            </c:spPr>
          </c:dPt>
          <c:dPt>
            <c:idx val="5"/>
            <c:invertIfNegative val="0"/>
            <c:bubble3D val="0"/>
            <c:spPr>
              <a:solidFill>
                <a:srgbClr val="C0392B"/>
              </a:solidFill>
              <a:effectLst/>
            </c:spPr>
          </c:dPt>
          <c:dPt>
            <c:idx val="6"/>
            <c:invertIfNegative val="0"/>
            <c:bubble3D val="0"/>
            <c:spPr>
              <a:solidFill>
                <a:srgbClr val="C0392B"/>
              </a:solidFill>
              <a:effectLst/>
            </c:spPr>
          </c:dPt>
          <c:dPt>
            <c:idx val="7"/>
            <c:invertIfNegative val="0"/>
            <c:bubble3D val="0"/>
            <c:spPr>
              <a:solidFill>
                <a:srgbClr val="C0392B"/>
              </a:solidFill>
              <a:effectLst/>
            </c:spPr>
          </c:dPt>
          <c:cat>
            <c:multiLvlStrRef>
              <c:f>Sheet1!$A$2:$A$9</c:f>
              <c:multiLvlStrCache>
                <c:ptCount val="8"/>
                <c:lvl>
                  <c:pt idx="0">
                    <c:v>United States</c:v>
                  </c:pt>
                  <c:pt idx="1">
                    <c:v>India</c:v>
                  </c:pt>
                  <c:pt idx="2">
                    <c:v>Germany</c:v>
                  </c:pt>
                  <c:pt idx="3">
                    <c:v>United Kingdom</c:v>
                  </c:pt>
                  <c:pt idx="4">
                    <c:v>Netherlands</c:v>
                  </c:pt>
                  <c:pt idx="5">
                    <c:v>Sweden</c:v>
                  </c:pt>
                  <c:pt idx="6">
                    <c:v>Canada</c:v>
                  </c:pt>
                  <c:pt idx="7">
                    <c:v>Brazil</c:v>
                  </c:pt>
                </c:lvl>
              </c:multiLvlStrCache>
            </c:multiLvlStrRef>
          </c:cat>
          <c:val>
            <c:numRef>
              <c:f>Sheet1!$B$2:$B$9</c:f>
              <c:numCache>
                <c:formatCode>General</c:formatCode>
                <c:ptCount val="8"/>
                <c:pt idx="0">
                  <c:v>518812</c:v>
                </c:pt>
                <c:pt idx="1">
                  <c:v>59216</c:v>
                </c:pt>
                <c:pt idx="2">
                  <c:v>30842</c:v>
                </c:pt>
                <c:pt idx="3">
                  <c:v>21280</c:v>
                </c:pt>
                <c:pt idx="4">
                  <c:v>19125</c:v>
                </c:pt>
                <c:pt idx="5">
                  <c:v>18059</c:v>
                </c:pt>
                <c:pt idx="6">
                  <c:v>15090</c:v>
                </c:pt>
                <c:pt idx="7">
                  <c:v>11323</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by funding stage</a:t>
            </a:r>
          </a:p>
        </c:rich>
      </c:tx>
      <c:layout/>
      <c:overlay val="0"/>
    </c:title>
    <c:autoTitleDeleted val="0"/>
    <c:plotArea>
      <c:layout/>
      <c:barChart>
        <c:barDir val="bar"/>
        <c:grouping val="clustered"/>
        <c:varyColors val="0"/>
        <c:ser>
          <c:idx val="0"/>
          <c:order val="0"/>
          <c:tx>
            <c:strRef>
              <c:f>Sheet1!$B$1</c:f>
              <c:strCache>
                <c:ptCount val="1"/>
                <c:pt idx="0">
                  <c:v>Employees laid off by funding stage</c:v>
                </c:pt>
              </c:strCache>
            </c:strRef>
          </c:tx>
          <c:spPr>
            <a:solidFill>
              <a:srgbClr val="C0392B"/>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9AA5B1"/>
              </a:solidFill>
              <a:effectLst/>
            </c:spPr>
          </c:dPt>
          <c:dPt>
            <c:idx val="4"/>
            <c:invertIfNegative val="0"/>
            <c:bubble3D val="0"/>
            <c:spPr>
              <a:solidFill>
                <a:srgbClr val="9AA5B1"/>
              </a:solidFill>
              <a:effectLst/>
            </c:spPr>
          </c:dPt>
          <c:dPt>
            <c:idx val="5"/>
            <c:invertIfNegative val="0"/>
            <c:bubble3D val="0"/>
            <c:spPr>
              <a:solidFill>
                <a:srgbClr val="9AA5B1"/>
              </a:solidFill>
              <a:effectLst/>
            </c:spPr>
          </c:dPt>
          <c:dPt>
            <c:idx val="6"/>
            <c:invertIfNegative val="0"/>
            <c:bubble3D val="0"/>
            <c:spPr>
              <a:solidFill>
                <a:srgbClr val="9AA5B1"/>
              </a:solidFill>
              <a:effectLst/>
            </c:spPr>
          </c:dPt>
          <c:dPt>
            <c:idx val="7"/>
            <c:invertIfNegative val="0"/>
            <c:bubble3D val="0"/>
            <c:spPr>
              <a:solidFill>
                <a:srgbClr val="9AA5B1"/>
              </a:solidFill>
              <a:effectLst/>
            </c:spPr>
          </c:dPt>
          <c:cat>
            <c:multiLvlStrRef>
              <c:f>Sheet1!$A$2:$A$9</c:f>
              <c:multiLvlStrCache>
                <c:ptCount val="8"/>
                <c:lvl>
                  <c:pt idx="0">
                    <c:v>Post-IPO</c:v>
                  </c:pt>
                  <c:pt idx="1">
                    <c:v>Unknown</c:v>
                  </c:pt>
                  <c:pt idx="2">
                    <c:v>Acquired</c:v>
                  </c:pt>
                  <c:pt idx="3">
                    <c:v>Series B</c:v>
                  </c:pt>
                  <c:pt idx="4">
                    <c:v>Series C</c:v>
                  </c:pt>
                  <c:pt idx="5">
                    <c:v>Series D</c:v>
                  </c:pt>
                  <c:pt idx="6">
                    <c:v>Series E</c:v>
                  </c:pt>
                  <c:pt idx="7">
                    <c:v>Series F</c:v>
                  </c:pt>
                </c:lvl>
              </c:multiLvlStrCache>
            </c:multiLvlStrRef>
          </c:cat>
          <c:val>
            <c:numRef>
              <c:f>Sheet1!$B$2:$B$9</c:f>
              <c:numCache>
                <c:formatCode>General</c:formatCode>
                <c:ptCount val="8"/>
                <c:pt idx="0">
                  <c:v>439048</c:v>
                </c:pt>
                <c:pt idx="1">
                  <c:v>73491</c:v>
                </c:pt>
                <c:pt idx="2">
                  <c:v>67456</c:v>
                </c:pt>
                <c:pt idx="3">
                  <c:v>30274</c:v>
                </c:pt>
                <c:pt idx="4">
                  <c:v>26783</c:v>
                </c:pt>
                <c:pt idx="5">
                  <c:v>26464</c:v>
                </c:pt>
                <c:pt idx="6">
                  <c:v>23596</c:v>
                </c:pt>
                <c:pt idx="7">
                  <c:v>14400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Employees laid off by event size</a:t>
            </a:r>
          </a:p>
        </c:rich>
      </c:tx>
      <c:layout/>
      <c:overlay val="0"/>
    </c:title>
    <c:autoTitleDeleted val="0"/>
    <c:plotArea>
      <c:layout/>
      <c:barChart>
        <c:barDir val="col"/>
        <c:grouping val="clustered"/>
        <c:varyColors val="0"/>
        <c:ser>
          <c:idx val="0"/>
          <c:order val="0"/>
          <c:tx>
            <c:strRef>
              <c:f>Sheet1!$B$1</c:f>
              <c:strCache>
                <c:ptCount val="1"/>
                <c:pt idx="0">
                  <c:v>Employees laid off by event size</c:v>
                </c:pt>
              </c:strCache>
            </c:strRef>
          </c:tx>
          <c:spPr>
            <a:solidFill>
              <a:srgbClr val="9AA5B1"/>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9AA5B1"/>
              </a:solidFill>
              <a:effectLst/>
            </c:spPr>
          </c:dPt>
          <c:dPt>
            <c:idx val="4"/>
            <c:invertIfNegative val="0"/>
            <c:bubble3D val="0"/>
            <c:spPr>
              <a:solidFill>
                <a:srgbClr val="C0392B"/>
              </a:solidFill>
              <a:effectLst/>
            </c:spPr>
          </c:dPt>
          <c:cat>
            <c:multiLvlStrRef>
              <c:f>Sheet1!$A$2:$A$6</c:f>
              <c:multiLvlStrCache>
                <c:ptCount val="5"/>
                <c:lvl>
                  <c:pt idx="0">
                    <c:v>Under 50</c:v>
                  </c:pt>
                  <c:pt idx="1">
                    <c:v>50–199</c:v>
                  </c:pt>
                  <c:pt idx="2">
                    <c:v>200–999</c:v>
                  </c:pt>
                  <c:pt idx="3">
                    <c:v>1,000–4,999</c:v>
                  </c:pt>
                  <c:pt idx="4">
                    <c:v>5,000+</c:v>
                  </c:pt>
                </c:lvl>
              </c:multiLvlStrCache>
            </c:multiLvlStrRef>
          </c:cat>
          <c:val>
            <c:numRef>
              <c:f>Sheet1!$B$2:$B$6</c:f>
              <c:numCache>
                <c:formatCode>General</c:formatCode>
                <c:ptCount val="5"/>
                <c:pt idx="0">
                  <c:v>22086</c:v>
                </c:pt>
                <c:pt idx="1">
                  <c:v>114337</c:v>
                </c:pt>
                <c:pt idx="2">
                  <c:v>204674</c:v>
                </c:pt>
                <c:pt idx="3">
                  <c:v>218193</c:v>
                </c:pt>
                <c:pt idx="4">
                  <c:v>192750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F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731520" y="3794760"/>
            <a:ext cx="960120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lIns="0" tIns="0" rIns="0" bIns="0" rtlCol="0" anchor="b"/>
          <a:lstStyle/>
          <a:p>
            <a:pPr algn="l" indent="0" marL="0">
              <a:buNone/>
            </a:pPr>
            <a:r>
              <a:rPr lang="en-US" sz="5200" b="1" dirty="0">
                <a:solidFill>
                  <a:schemeClr val="bg1"/>
                </a:solidFill>
              </a:rPr>
              <a:t>Global Layoffs Report, 2020–2025</a:t>
            </a:r>
            <a:endParaRPr lang="en-US" sz="5200" dirty="0"/>
          </a:p>
        </p:txBody>
      </p:sp>
      <p:sp>
        <p:nvSpPr>
          <p:cNvPr id="3" name="Text 0"/>
          <p:cNvSpPr/>
          <p:nvPr>
            <p:ph idx="101" type="body" hasCustomPrompt="1"/>
          </p:nvPr>
        </p:nvSpPr>
        <p:spPr>
          <a:xfrm>
            <a:off x="731520" y="379476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2,673 layoff events across 1,902 companies. Data: Layoffs.fyi, 11 Mar 2020 to 2 Jul 2025.</a:t>
            </a:r>
            <a:endParaRPr lang="en-US" sz="2200" dirty="0"/>
          </a:p>
        </p:txBody>
      </p:sp>
      <p:sp>
        <p:nvSpPr>
          <p:cNvPr id="4" name="Motif circle 1"/>
          <p:cNvSpPr/>
          <p:nvPr/>
        </p:nvSpPr>
        <p:spPr>
          <a:xfrm>
            <a:off x="9509760" y="822960"/>
            <a:ext cx="2011680" cy="2011680"/>
          </a:xfrm>
          <a:prstGeom prst="ellipse">
            <a:avLst/>
          </a:prstGeom>
          <a:solidFill>
            <a:schemeClr val="accent1">
              <a:alpha val="75000"/>
            </a:schemeClr>
          </a:solidFill>
          <a:ln/>
        </p:spPr>
      </p:sp>
      <p:sp>
        <p:nvSpPr>
          <p:cNvPr id="5" name="Motif circle 2"/>
          <p:cNvSpPr/>
          <p:nvPr/>
        </p:nvSpPr>
        <p:spPr>
          <a:xfrm>
            <a:off x="10332720" y="1737360"/>
            <a:ext cx="1188720" cy="1188720"/>
          </a:xfrm>
          <a:prstGeom prst="ellipse">
            <a:avLst/>
          </a:prstGeom>
          <a:solidFill>
            <a:schemeClr val="accent4">
              <a:alpha val="75000"/>
            </a:schemeClr>
          </a:solidFill>
          <a:ln/>
        </p:spPr>
      </p:sp>
      <p:sp>
        <p:nvSpPr>
          <p:cNvPr id="6" name="Motif circle 3"/>
          <p:cNvSpPr/>
          <p:nvPr/>
        </p:nvSpPr>
        <p:spPr>
          <a:xfrm>
            <a:off x="9144000" y="2194560"/>
            <a:ext cx="640080" cy="640080"/>
          </a:xfrm>
          <a:prstGeom prst="ellipse">
            <a:avLst/>
          </a:prstGeom>
          <a:solidFill>
            <a:schemeClr val="accent2">
              <a:alpha val="75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752,040 people laid off in five years</a:t>
            </a:r>
            <a:endParaRPr lang="en-US" sz="3600" dirty="0"/>
          </a:p>
        </p:txBody>
      </p:sp>
      <p:sp>
        <p:nvSpPr>
          <p:cNvPr id="3" name="Stat 1 card"/>
          <p:cNvSpPr/>
          <p:nvPr/>
        </p:nvSpPr>
        <p:spPr>
          <a:xfrm>
            <a:off x="548640" y="1508760"/>
            <a:ext cx="2606040" cy="1554480"/>
          </a:xfrm>
          <a:prstGeom prst="roundRect">
            <a:avLst>
              <a:gd name="adj" fmla="val 7059"/>
            </a:avLst>
          </a:prstGeom>
          <a:solidFill>
            <a:schemeClr val="tx1"/>
          </a:solidFill>
          <a:ln/>
        </p:spPr>
      </p:sp>
      <p:sp>
        <p:nvSpPr>
          <p:cNvPr id="4" name="Stat 1 value"/>
          <p:cNvSpPr txBox="1"/>
          <p:nvPr/>
        </p:nvSpPr>
        <p:spPr>
          <a:xfrm>
            <a:off x="731520" y="1645920"/>
            <a:ext cx="2240280" cy="80833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752,040</a:t>
            </a:r>
            <a:endParaRPr lang="en-US" sz="4000" dirty="0"/>
          </a:p>
        </p:txBody>
      </p:sp>
      <p:sp>
        <p:nvSpPr>
          <p:cNvPr id="5" name="Stat 1 label"/>
          <p:cNvSpPr txBox="1"/>
          <p:nvPr/>
        </p:nvSpPr>
        <p:spPr>
          <a:xfrm>
            <a:off x="731520" y="2454250"/>
            <a:ext cx="2240280" cy="471830"/>
          </a:xfrm>
          <a:prstGeom prst="rect">
            <a:avLst/>
          </a:prstGeom>
          <a:noFill/>
          <a:ln/>
        </p:spPr>
        <p:txBody>
          <a:bodyPr wrap="square" lIns="0" tIns="0" rIns="0" bIns="0" rtlCol="0" anchor="t"/>
          <a:lstStyle/>
          <a:p>
            <a:pPr indent="0" marL="0">
              <a:buNone/>
            </a:pPr>
            <a:r>
              <a:rPr lang="en-US" sz="1500" dirty="0">
                <a:solidFill>
                  <a:schemeClr val="bg2"/>
                </a:solidFill>
              </a:rPr>
              <a:t>employees laid off</a:t>
            </a:r>
            <a:endParaRPr lang="en-US" sz="1500" dirty="0"/>
          </a:p>
        </p:txBody>
      </p:sp>
      <p:sp>
        <p:nvSpPr>
          <p:cNvPr id="6" name="Stat 2 card"/>
          <p:cNvSpPr/>
          <p:nvPr/>
        </p:nvSpPr>
        <p:spPr>
          <a:xfrm>
            <a:off x="3377184" y="1508760"/>
            <a:ext cx="2606040" cy="1554480"/>
          </a:xfrm>
          <a:prstGeom prst="roundRect">
            <a:avLst>
              <a:gd name="adj" fmla="val 7059"/>
            </a:avLst>
          </a:prstGeom>
          <a:solidFill>
            <a:schemeClr val="bg2"/>
          </a:solidFill>
          <a:ln/>
        </p:spPr>
      </p:sp>
      <p:sp>
        <p:nvSpPr>
          <p:cNvPr id="7" name="Stat 2 value"/>
          <p:cNvSpPr txBox="1"/>
          <p:nvPr/>
        </p:nvSpPr>
        <p:spPr>
          <a:xfrm>
            <a:off x="3560064" y="1645920"/>
            <a:ext cx="2240280" cy="80833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2,673</a:t>
            </a:r>
            <a:endParaRPr lang="en-US" sz="4000" dirty="0"/>
          </a:p>
        </p:txBody>
      </p:sp>
      <p:sp>
        <p:nvSpPr>
          <p:cNvPr id="8" name="Stat 2 label"/>
          <p:cNvSpPr txBox="1"/>
          <p:nvPr/>
        </p:nvSpPr>
        <p:spPr>
          <a:xfrm>
            <a:off x="3560064" y="2454250"/>
            <a:ext cx="2240280" cy="471830"/>
          </a:xfrm>
          <a:prstGeom prst="rect">
            <a:avLst/>
          </a:prstGeom>
          <a:noFill/>
          <a:ln/>
        </p:spPr>
        <p:txBody>
          <a:bodyPr wrap="square" lIns="0" tIns="0" rIns="0" bIns="0" rtlCol="0" anchor="t"/>
          <a:lstStyle/>
          <a:p>
            <a:pPr indent="0" marL="0">
              <a:buNone/>
            </a:pPr>
            <a:r>
              <a:rPr lang="en-US" sz="1500" dirty="0">
                <a:solidFill>
                  <a:schemeClr val="tx2"/>
                </a:solidFill>
              </a:rPr>
              <a:t>layoff events</a:t>
            </a:r>
            <a:endParaRPr lang="en-US" sz="1500" dirty="0"/>
          </a:p>
        </p:txBody>
      </p:sp>
      <p:sp>
        <p:nvSpPr>
          <p:cNvPr id="9" name="Stat 3 card"/>
          <p:cNvSpPr/>
          <p:nvPr/>
        </p:nvSpPr>
        <p:spPr>
          <a:xfrm>
            <a:off x="6205728" y="1508760"/>
            <a:ext cx="2606040" cy="1554480"/>
          </a:xfrm>
          <a:prstGeom prst="roundRect">
            <a:avLst>
              <a:gd name="adj" fmla="val 7059"/>
            </a:avLst>
          </a:prstGeom>
          <a:solidFill>
            <a:schemeClr val="bg2"/>
          </a:solidFill>
          <a:ln/>
        </p:spPr>
      </p:sp>
      <p:sp>
        <p:nvSpPr>
          <p:cNvPr id="10" name="Stat 3 value"/>
          <p:cNvSpPr txBox="1"/>
          <p:nvPr/>
        </p:nvSpPr>
        <p:spPr>
          <a:xfrm>
            <a:off x="6388608" y="1645920"/>
            <a:ext cx="2240280" cy="80833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1,902</a:t>
            </a:r>
            <a:endParaRPr lang="en-US" sz="4000" dirty="0"/>
          </a:p>
        </p:txBody>
      </p:sp>
      <p:sp>
        <p:nvSpPr>
          <p:cNvPr id="11" name="Stat 3 label"/>
          <p:cNvSpPr txBox="1"/>
          <p:nvPr/>
        </p:nvSpPr>
        <p:spPr>
          <a:xfrm>
            <a:off x="6388608" y="2454250"/>
            <a:ext cx="2240280" cy="471830"/>
          </a:xfrm>
          <a:prstGeom prst="rect">
            <a:avLst/>
          </a:prstGeom>
          <a:noFill/>
          <a:ln/>
        </p:spPr>
        <p:txBody>
          <a:bodyPr wrap="square" lIns="0" tIns="0" rIns="0" bIns="0" rtlCol="0" anchor="t"/>
          <a:lstStyle/>
          <a:p>
            <a:pPr indent="0" marL="0">
              <a:buNone/>
            </a:pPr>
            <a:r>
              <a:rPr lang="en-US" sz="1500" dirty="0">
                <a:solidFill>
                  <a:schemeClr val="tx2"/>
                </a:solidFill>
              </a:rPr>
              <a:t>distinct companies</a:t>
            </a:r>
            <a:endParaRPr lang="en-US" sz="1500" dirty="0"/>
          </a:p>
        </p:txBody>
      </p:sp>
      <p:sp>
        <p:nvSpPr>
          <p:cNvPr id="12" name="Stat 4 card"/>
          <p:cNvSpPr/>
          <p:nvPr/>
        </p:nvSpPr>
        <p:spPr>
          <a:xfrm>
            <a:off x="9034272" y="1508760"/>
            <a:ext cx="2606040" cy="1554480"/>
          </a:xfrm>
          <a:prstGeom prst="roundRect">
            <a:avLst>
              <a:gd name="adj" fmla="val 7059"/>
            </a:avLst>
          </a:prstGeom>
          <a:solidFill>
            <a:schemeClr val="bg2"/>
          </a:solidFill>
          <a:ln/>
        </p:spPr>
      </p:sp>
      <p:sp>
        <p:nvSpPr>
          <p:cNvPr id="13" name="Stat 4 value"/>
          <p:cNvSpPr txBox="1"/>
          <p:nvPr/>
        </p:nvSpPr>
        <p:spPr>
          <a:xfrm>
            <a:off x="9217152" y="1645920"/>
            <a:ext cx="2240280" cy="80833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22,000</a:t>
            </a:r>
            <a:endParaRPr lang="en-US" sz="4000" dirty="0"/>
          </a:p>
        </p:txBody>
      </p:sp>
      <p:sp>
        <p:nvSpPr>
          <p:cNvPr id="14" name="Stat 4 label"/>
          <p:cNvSpPr txBox="1"/>
          <p:nvPr/>
        </p:nvSpPr>
        <p:spPr>
          <a:xfrm>
            <a:off x="9217152" y="2454250"/>
            <a:ext cx="2240280" cy="471830"/>
          </a:xfrm>
          <a:prstGeom prst="rect">
            <a:avLst/>
          </a:prstGeom>
          <a:noFill/>
          <a:ln/>
        </p:spPr>
        <p:txBody>
          <a:bodyPr wrap="square" lIns="0" tIns="0" rIns="0" bIns="0" rtlCol="0" anchor="t"/>
          <a:lstStyle/>
          <a:p>
            <a:pPr indent="0" marL="0">
              <a:buNone/>
            </a:pPr>
            <a:r>
              <a:rPr lang="en-US" sz="1500" dirty="0">
                <a:solidFill>
                  <a:schemeClr val="tx2"/>
                </a:solidFill>
              </a:rPr>
              <a:t>largest single event (Intel, Apr 2025)</a:t>
            </a:r>
            <a:endParaRPr lang="en-US" sz="1500" dirty="0"/>
          </a:p>
        </p:txBody>
      </p:sp>
      <p:sp>
        <p:nvSpPr>
          <p:cNvPr id="15" name="Findings card"/>
          <p:cNvSpPr/>
          <p:nvPr/>
        </p:nvSpPr>
        <p:spPr>
          <a:xfrm>
            <a:off x="548640" y="3383280"/>
            <a:ext cx="11091672" cy="2743200"/>
          </a:xfrm>
          <a:prstGeom prst="roundRect">
            <a:avLst>
              <a:gd name="adj" fmla="val 4000"/>
            </a:avLst>
          </a:prstGeom>
          <a:solidFill>
            <a:schemeClr val="bg2"/>
          </a:solidFill>
          <a:ln/>
        </p:spPr>
      </p:sp>
      <p:sp>
        <p:nvSpPr>
          <p:cNvPr id="16" name="Findings heading"/>
          <p:cNvSpPr txBox="1"/>
          <p:nvPr/>
        </p:nvSpPr>
        <p:spPr>
          <a:xfrm>
            <a:off x="822960" y="3520440"/>
            <a:ext cx="54864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Headline findings</a:t>
            </a:r>
            <a:endParaRPr lang="en-US" sz="2200" dirty="0"/>
          </a:p>
        </p:txBody>
      </p:sp>
      <p:sp>
        <p:nvSpPr>
          <p:cNvPr id="17" name="Findings list"/>
          <p:cNvSpPr txBox="1"/>
          <p:nvPr/>
        </p:nvSpPr>
        <p:spPr>
          <a:xfrm>
            <a:off x="822960" y="4069080"/>
            <a:ext cx="10543032"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Layoffs peaked in 2023 (264,220), up from a 2021 low of 15,823</a:t>
            </a:r>
            <a:endParaRPr lang="en-US" sz="1700" dirty="0"/>
          </a:p>
          <a:p>
            <a:pPr marL="342900" indent="-342900">
              <a:spcAft>
                <a:spcPts val="800"/>
              </a:spcAft>
              <a:buSzPct val="100000"/>
              <a:buChar char="•"/>
            </a:pPr>
            <a:r>
              <a:rPr lang="en-US" sz="1700" dirty="0">
                <a:solidFill>
                  <a:schemeClr val="tx1"/>
                </a:solidFill>
              </a:rPr>
              <a:t>The US accounts for 69% of all job cuts; Post-IPO companies for 58%</a:t>
            </a:r>
            <a:endParaRPr lang="en-US" sz="1700" dirty="0"/>
          </a:p>
          <a:p>
            <a:pPr marL="342900" indent="-342900">
              <a:spcAft>
                <a:spcPts val="800"/>
              </a:spcAft>
              <a:buSzPct val="100000"/>
              <a:buChar char="•"/>
            </a:pPr>
            <a:r>
              <a:rPr lang="en-US" sz="1700" dirty="0">
                <a:solidFill>
                  <a:schemeClr val="tx1"/>
                </a:solidFill>
              </a:rPr>
              <a:t>Large events matter most: 142 cuts of 1,000+ people make up 55% of the total</a:t>
            </a:r>
            <a:endParaRPr lang="en-US" sz="1700" dirty="0"/>
          </a:p>
          <a:p>
            <a:pPr marL="342900" indent="-342900">
              <a:spcAft>
                <a:spcPts val="800"/>
              </a:spcAft>
              <a:buSzPct val="100000"/>
              <a:buChar char="•"/>
            </a:pPr>
            <a:r>
              <a:rPr lang="en-US" sz="1700" dirty="0">
                <a:solidFill>
                  <a:schemeClr val="tx1"/>
                </a:solidFill>
              </a:rPr>
              <a:t>Intel, Microsoft, Amazon, Meta and Tesla lead the company ranking</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Layoffs peaked in 2023, then eased</a:t>
            </a:r>
            <a:endParaRPr lang="en-US" sz="3600" dirty="0"/>
          </a:p>
        </p:txBody>
      </p:sp>
      <p:graphicFrame>
        <p:nvGraphicFramePr>
          <p:cNvPr id="3" name="Employees laid off per year chart" descr=""/>
          <p:cNvGraphicFramePr/>
          <p:nvPr/>
        </p:nvGraphicFramePr>
        <p:xfrm>
          <a:off x="548640" y="146304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Year stat 1 card"/>
          <p:cNvSpPr/>
          <p:nvPr/>
        </p:nvSpPr>
        <p:spPr>
          <a:xfrm>
            <a:off x="7863840" y="1508760"/>
            <a:ext cx="3776472" cy="1508760"/>
          </a:xfrm>
          <a:prstGeom prst="roundRect">
            <a:avLst>
              <a:gd name="adj" fmla="val 7273"/>
            </a:avLst>
          </a:prstGeom>
          <a:solidFill>
            <a:schemeClr val="tx1"/>
          </a:solidFill>
          <a:ln/>
        </p:spPr>
      </p:sp>
      <p:sp>
        <p:nvSpPr>
          <p:cNvPr id="5" name="Year stat 1 value"/>
          <p:cNvSpPr txBox="1"/>
          <p:nvPr/>
        </p:nvSpPr>
        <p:spPr>
          <a:xfrm>
            <a:off x="8046720" y="1645920"/>
            <a:ext cx="3410712" cy="784555"/>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264,220</a:t>
            </a:r>
            <a:endParaRPr lang="en-US" sz="3200" dirty="0"/>
          </a:p>
        </p:txBody>
      </p:sp>
      <p:sp>
        <p:nvSpPr>
          <p:cNvPr id="6" name="Year stat 1 label"/>
          <p:cNvSpPr txBox="1"/>
          <p:nvPr/>
        </p:nvSpPr>
        <p:spPr>
          <a:xfrm>
            <a:off x="8046720" y="2430475"/>
            <a:ext cx="3410712" cy="449885"/>
          </a:xfrm>
          <a:prstGeom prst="rect">
            <a:avLst/>
          </a:prstGeom>
          <a:noFill/>
          <a:ln/>
        </p:spPr>
        <p:txBody>
          <a:bodyPr wrap="square" lIns="0" tIns="0" rIns="0" bIns="0" rtlCol="0" anchor="t"/>
          <a:lstStyle/>
          <a:p>
            <a:pPr indent="0" marL="0">
              <a:buNone/>
            </a:pPr>
            <a:r>
              <a:rPr lang="en-US" sz="1500" dirty="0">
                <a:solidFill>
                  <a:schemeClr val="bg2"/>
                </a:solidFill>
              </a:rPr>
              <a:t>in 2023, the peak year</a:t>
            </a:r>
            <a:endParaRPr lang="en-US" sz="1500" dirty="0"/>
          </a:p>
        </p:txBody>
      </p:sp>
      <p:sp>
        <p:nvSpPr>
          <p:cNvPr id="7" name="Year stat 2 card"/>
          <p:cNvSpPr/>
          <p:nvPr/>
        </p:nvSpPr>
        <p:spPr>
          <a:xfrm>
            <a:off x="7863840" y="3108960"/>
            <a:ext cx="3776472" cy="1508760"/>
          </a:xfrm>
          <a:prstGeom prst="roundRect">
            <a:avLst>
              <a:gd name="adj" fmla="val 7273"/>
            </a:avLst>
          </a:prstGeom>
          <a:solidFill>
            <a:schemeClr val="bg2"/>
          </a:solidFill>
          <a:ln/>
        </p:spPr>
      </p:sp>
      <p:sp>
        <p:nvSpPr>
          <p:cNvPr id="8" name="Year stat 2 value"/>
          <p:cNvSpPr txBox="1"/>
          <p:nvPr/>
        </p:nvSpPr>
        <p:spPr>
          <a:xfrm>
            <a:off x="8046720" y="3246120"/>
            <a:ext cx="3410712" cy="784555"/>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89,709</a:t>
            </a:r>
            <a:endParaRPr lang="en-US" sz="3200" dirty="0"/>
          </a:p>
        </p:txBody>
      </p:sp>
      <p:sp>
        <p:nvSpPr>
          <p:cNvPr id="9" name="Year stat 2 label"/>
          <p:cNvSpPr txBox="1"/>
          <p:nvPr/>
        </p:nvSpPr>
        <p:spPr>
          <a:xfrm>
            <a:off x="8046720" y="4030675"/>
            <a:ext cx="3410712" cy="449885"/>
          </a:xfrm>
          <a:prstGeom prst="rect">
            <a:avLst/>
          </a:prstGeom>
          <a:noFill/>
          <a:ln/>
        </p:spPr>
        <p:txBody>
          <a:bodyPr wrap="square" lIns="0" tIns="0" rIns="0" bIns="0" rtlCol="0" anchor="t"/>
          <a:lstStyle/>
          <a:p>
            <a:pPr indent="0" marL="0">
              <a:buNone/>
            </a:pPr>
            <a:r>
              <a:rPr lang="en-US" sz="1500" dirty="0">
                <a:solidFill>
                  <a:schemeClr val="tx2"/>
                </a:solidFill>
              </a:rPr>
              <a:t>in Jan 2023 alone, the worst month in the data</a:t>
            </a:r>
            <a:endParaRPr lang="en-US" sz="1500" dirty="0"/>
          </a:p>
        </p:txBody>
      </p:sp>
      <p:sp>
        <p:nvSpPr>
          <p:cNvPr id="10" name="Year stat 3 card"/>
          <p:cNvSpPr/>
          <p:nvPr/>
        </p:nvSpPr>
        <p:spPr>
          <a:xfrm>
            <a:off x="7863840" y="4709160"/>
            <a:ext cx="3776472" cy="1508760"/>
          </a:xfrm>
          <a:prstGeom prst="roundRect">
            <a:avLst>
              <a:gd name="adj" fmla="val 7273"/>
            </a:avLst>
          </a:prstGeom>
          <a:solidFill>
            <a:schemeClr val="bg2"/>
          </a:solidFill>
          <a:ln/>
        </p:spPr>
      </p:sp>
      <p:sp>
        <p:nvSpPr>
          <p:cNvPr id="11" name="Year stat 3 value"/>
          <p:cNvSpPr txBox="1"/>
          <p:nvPr/>
        </p:nvSpPr>
        <p:spPr>
          <a:xfrm>
            <a:off x="8046720" y="4846320"/>
            <a:ext cx="3410712" cy="784555"/>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−42%</a:t>
            </a:r>
            <a:endParaRPr lang="en-US" sz="3200" dirty="0"/>
          </a:p>
        </p:txBody>
      </p:sp>
      <p:sp>
        <p:nvSpPr>
          <p:cNvPr id="12" name="Year stat 3 label"/>
          <p:cNvSpPr txBox="1"/>
          <p:nvPr/>
        </p:nvSpPr>
        <p:spPr>
          <a:xfrm>
            <a:off x="8046720" y="5630875"/>
            <a:ext cx="3410712" cy="449885"/>
          </a:xfrm>
          <a:prstGeom prst="rect">
            <a:avLst/>
          </a:prstGeom>
          <a:noFill/>
          <a:ln/>
        </p:spPr>
        <p:txBody>
          <a:bodyPr wrap="square" lIns="0" tIns="0" rIns="0" bIns="0" rtlCol="0" anchor="t"/>
          <a:lstStyle/>
          <a:p>
            <a:pPr indent="0" marL="0">
              <a:buNone/>
            </a:pPr>
            <a:r>
              <a:rPr lang="en-US" sz="1500" dirty="0">
                <a:solidFill>
                  <a:schemeClr val="tx2"/>
                </a:solidFill>
              </a:rPr>
              <a:t>in 2024 versus 2023</a:t>
            </a:r>
            <a:endParaRPr lang="en-US" sz="1500" dirty="0"/>
          </a:p>
        </p:txBody>
      </p:sp>
      <p:sp>
        <p:nvSpPr>
          <p:cNvPr id="13" name="Year footnote"/>
          <p:cNvSpPr txBox="1"/>
          <p:nvPr/>
        </p:nvSpPr>
        <p:spPr>
          <a:xfrm>
            <a:off x="548640" y="6263640"/>
            <a:ext cx="6949440" cy="274320"/>
          </a:xfrm>
          <a:prstGeom prst="rect">
            <a:avLst/>
          </a:prstGeom>
          <a:noFill/>
          <a:ln/>
        </p:spPr>
        <p:txBody>
          <a:bodyPr wrap="square" lIns="0" tIns="0" rIns="0" bIns="0" rtlCol="0" anchor="ctr"/>
          <a:lstStyle/>
          <a:p>
            <a:pPr indent="0" marL="0">
              <a:buNone/>
            </a:pPr>
            <a:r>
              <a:rPr lang="en-US" sz="1200" dirty="0">
                <a:solidFill>
                  <a:schemeClr val="tx2"/>
                </a:solidFill>
              </a:rPr>
              <a:t>* 2025 covers 1 Jan to 2 Jul only; 2020 starts 11 Mar.</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Intel, Microsoft and Amazon lead the list</a:t>
            </a:r>
            <a:endParaRPr lang="en-US" sz="3600" dirty="0"/>
          </a:p>
        </p:txBody>
      </p:sp>
      <p:graphicFrame>
        <p:nvGraphicFramePr>
          <p:cNvPr id="3" name="Employees laid off, top 10 companies chart" descr=""/>
          <p:cNvGraphicFramePr/>
          <p:nvPr/>
        </p:nvGraphicFramePr>
        <p:xfrm>
          <a:off x="548640" y="146304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Top10 stat card"/>
          <p:cNvSpPr/>
          <p:nvPr/>
        </p:nvSpPr>
        <p:spPr>
          <a:xfrm>
            <a:off x="7955280" y="1508760"/>
            <a:ext cx="3685032" cy="1737360"/>
          </a:xfrm>
          <a:prstGeom prst="roundRect">
            <a:avLst>
              <a:gd name="adj" fmla="val 6316"/>
            </a:avLst>
          </a:prstGeom>
          <a:solidFill>
            <a:schemeClr val="tx1"/>
          </a:solidFill>
          <a:ln/>
        </p:spPr>
      </p:sp>
      <p:sp>
        <p:nvSpPr>
          <p:cNvPr id="5" name="Top10 stat value"/>
          <p:cNvSpPr txBox="1"/>
          <p:nvPr/>
        </p:nvSpPr>
        <p:spPr>
          <a:xfrm>
            <a:off x="8138160" y="1645920"/>
            <a:ext cx="3319272" cy="903427"/>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26%</a:t>
            </a:r>
            <a:endParaRPr lang="en-US" sz="4000" dirty="0"/>
          </a:p>
        </p:txBody>
      </p:sp>
      <p:sp>
        <p:nvSpPr>
          <p:cNvPr id="6" name="Top10 stat label"/>
          <p:cNvSpPr txBox="1"/>
          <p:nvPr/>
        </p:nvSpPr>
        <p:spPr>
          <a:xfrm>
            <a:off x="8138160" y="2549347"/>
            <a:ext cx="3319272" cy="559613"/>
          </a:xfrm>
          <a:prstGeom prst="rect">
            <a:avLst/>
          </a:prstGeom>
          <a:noFill/>
          <a:ln/>
        </p:spPr>
        <p:txBody>
          <a:bodyPr wrap="square" lIns="0" tIns="0" rIns="0" bIns="0" rtlCol="0" anchor="t"/>
          <a:lstStyle/>
          <a:p>
            <a:pPr indent="0" marL="0">
              <a:buNone/>
            </a:pPr>
            <a:r>
              <a:rPr lang="en-US" sz="1500" dirty="0">
                <a:solidFill>
                  <a:schemeClr val="bg2"/>
                </a:solidFill>
              </a:rPr>
              <a:t>of all layoffs come from just ten companies (198,905 people)</a:t>
            </a:r>
            <a:endParaRPr lang="en-US" sz="1500" dirty="0"/>
          </a:p>
        </p:txBody>
      </p:sp>
      <p:sp>
        <p:nvSpPr>
          <p:cNvPr id="7" name="Repeat stat card"/>
          <p:cNvSpPr/>
          <p:nvPr/>
        </p:nvSpPr>
        <p:spPr>
          <a:xfrm>
            <a:off x="7955280" y="3474720"/>
            <a:ext cx="3685032" cy="1554480"/>
          </a:xfrm>
          <a:prstGeom prst="roundRect">
            <a:avLst>
              <a:gd name="adj" fmla="val 7059"/>
            </a:avLst>
          </a:prstGeom>
          <a:solidFill>
            <a:schemeClr val="bg2"/>
          </a:solidFill>
          <a:ln/>
        </p:spPr>
      </p:sp>
      <p:sp>
        <p:nvSpPr>
          <p:cNvPr id="8" name="Repeat stat value"/>
          <p:cNvSpPr txBox="1"/>
          <p:nvPr/>
        </p:nvSpPr>
        <p:spPr>
          <a:xfrm>
            <a:off x="8138160" y="3611880"/>
            <a:ext cx="3319272" cy="80833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8 to 9</a:t>
            </a:r>
            <a:endParaRPr lang="en-US" sz="3400" dirty="0"/>
          </a:p>
        </p:txBody>
      </p:sp>
      <p:sp>
        <p:nvSpPr>
          <p:cNvPr id="9" name="Repeat stat label"/>
          <p:cNvSpPr txBox="1"/>
          <p:nvPr/>
        </p:nvSpPr>
        <p:spPr>
          <a:xfrm>
            <a:off x="8138160" y="4420210"/>
            <a:ext cx="3319272" cy="471830"/>
          </a:xfrm>
          <a:prstGeom prst="rect">
            <a:avLst/>
          </a:prstGeom>
          <a:noFill/>
          <a:ln/>
        </p:spPr>
        <p:txBody>
          <a:bodyPr wrap="square" lIns="0" tIns="0" rIns="0" bIns="0" rtlCol="0" anchor="t"/>
          <a:lstStyle/>
          <a:p>
            <a:pPr indent="0" marL="0">
              <a:buNone/>
            </a:pPr>
            <a:r>
              <a:rPr lang="en-US" sz="1500" dirty="0">
                <a:solidFill>
                  <a:schemeClr val="tx2"/>
                </a:solidFill>
              </a:rPr>
              <a:t>events each for Amazon, Microsoft, Google, Intel, Salesforce</a:t>
            </a:r>
            <a:endParaRPr lang="en-US" sz="1500" dirty="0"/>
          </a:p>
        </p:txBody>
      </p:sp>
      <p:sp>
        <p:nvSpPr>
          <p:cNvPr id="10" name="Company note"/>
          <p:cNvSpPr txBox="1"/>
          <p:nvPr/>
        </p:nvSpPr>
        <p:spPr>
          <a:xfrm>
            <a:off x="7955280" y="5257800"/>
            <a:ext cx="3685032" cy="914400"/>
          </a:xfrm>
          <a:prstGeom prst="rect">
            <a:avLst/>
          </a:prstGeom>
          <a:noFill/>
          <a:ln/>
        </p:spPr>
        <p:txBody>
          <a:bodyPr wrap="square" lIns="0" tIns="0" rIns="0" bIns="0" rtlCol="0" anchor="t"/>
          <a:lstStyle/>
          <a:p>
            <a:pPr indent="0" marL="0">
              <a:buNone/>
            </a:pPr>
            <a:r>
              <a:rPr lang="en-US" sz="1500" dirty="0">
                <a:solidFill>
                  <a:schemeClr val="tx1"/>
                </a:solidFill>
              </a:rPr>
              <a:t>Intel’s 38,115 comes from 8 events, including the two largest in the dataset.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Five industries account for half of cuts</a:t>
            </a:r>
            <a:endParaRPr lang="en-US" sz="3600" dirty="0"/>
          </a:p>
        </p:txBody>
      </p:sp>
      <p:graphicFrame>
        <p:nvGraphicFramePr>
          <p:cNvPr id="3" name="Employees laid off, top 10 industries chart" descr=""/>
          <p:cNvGraphicFramePr/>
          <p:nvPr/>
        </p:nvGraphicFramePr>
        <p:xfrm>
          <a:off x="548640" y="146304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Top5 stat card"/>
          <p:cNvSpPr/>
          <p:nvPr/>
        </p:nvSpPr>
        <p:spPr>
          <a:xfrm>
            <a:off x="7955280" y="1508760"/>
            <a:ext cx="3685032" cy="1737360"/>
          </a:xfrm>
          <a:prstGeom prst="roundRect">
            <a:avLst>
              <a:gd name="adj" fmla="val 6316"/>
            </a:avLst>
          </a:prstGeom>
          <a:solidFill>
            <a:schemeClr val="tx1"/>
          </a:solidFill>
          <a:ln/>
        </p:spPr>
      </p:sp>
      <p:sp>
        <p:nvSpPr>
          <p:cNvPr id="5" name="Top5 stat value"/>
          <p:cNvSpPr txBox="1"/>
          <p:nvPr/>
        </p:nvSpPr>
        <p:spPr>
          <a:xfrm>
            <a:off x="8138160" y="1645920"/>
            <a:ext cx="3319272" cy="903427"/>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50%</a:t>
            </a:r>
            <a:endParaRPr lang="en-US" sz="4000" dirty="0"/>
          </a:p>
        </p:txBody>
      </p:sp>
      <p:sp>
        <p:nvSpPr>
          <p:cNvPr id="6" name="Top5 stat label"/>
          <p:cNvSpPr txBox="1"/>
          <p:nvPr/>
        </p:nvSpPr>
        <p:spPr>
          <a:xfrm>
            <a:off x="8138160" y="2549347"/>
            <a:ext cx="3319272" cy="559613"/>
          </a:xfrm>
          <a:prstGeom prst="rect">
            <a:avLst/>
          </a:prstGeom>
          <a:noFill/>
          <a:ln/>
        </p:spPr>
        <p:txBody>
          <a:bodyPr wrap="square" lIns="0" tIns="0" rIns="0" bIns="0" rtlCol="0" anchor="t"/>
          <a:lstStyle/>
          <a:p>
            <a:pPr indent="0" marL="0">
              <a:buNone/>
            </a:pPr>
            <a:r>
              <a:rPr lang="en-US" sz="1500" dirty="0">
                <a:solidFill>
                  <a:schemeClr val="bg2"/>
                </a:solidFill>
              </a:rPr>
              <a:t>of all layoffs sit in the top five industries</a:t>
            </a:r>
            <a:endParaRPr lang="en-US" sz="1500" dirty="0"/>
          </a:p>
        </p:txBody>
      </p:sp>
      <p:sp>
        <p:nvSpPr>
          <p:cNvPr id="7" name="Finance stat card"/>
          <p:cNvSpPr/>
          <p:nvPr/>
        </p:nvSpPr>
        <p:spPr>
          <a:xfrm>
            <a:off x="7955280" y="3474720"/>
            <a:ext cx="3685032" cy="1554480"/>
          </a:xfrm>
          <a:prstGeom prst="roundRect">
            <a:avLst>
              <a:gd name="adj" fmla="val 7059"/>
            </a:avLst>
          </a:prstGeom>
          <a:solidFill>
            <a:schemeClr val="bg2"/>
          </a:solidFill>
          <a:ln/>
        </p:spPr>
      </p:sp>
      <p:sp>
        <p:nvSpPr>
          <p:cNvPr id="8" name="Finance stat value"/>
          <p:cNvSpPr txBox="1"/>
          <p:nvPr/>
        </p:nvSpPr>
        <p:spPr>
          <a:xfrm>
            <a:off x="8138160" y="3611880"/>
            <a:ext cx="3319272" cy="80833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326</a:t>
            </a:r>
            <a:endParaRPr lang="en-US" sz="3400" dirty="0"/>
          </a:p>
        </p:txBody>
      </p:sp>
      <p:sp>
        <p:nvSpPr>
          <p:cNvPr id="9" name="Finance stat label"/>
          <p:cNvSpPr txBox="1"/>
          <p:nvPr/>
        </p:nvSpPr>
        <p:spPr>
          <a:xfrm>
            <a:off x="8138160" y="4420210"/>
            <a:ext cx="3319272" cy="471830"/>
          </a:xfrm>
          <a:prstGeom prst="rect">
            <a:avLst/>
          </a:prstGeom>
          <a:noFill/>
          <a:ln/>
        </p:spPr>
        <p:txBody>
          <a:bodyPr wrap="square" lIns="0" tIns="0" rIns="0" bIns="0" rtlCol="0" anchor="t"/>
          <a:lstStyle/>
          <a:p>
            <a:pPr indent="0" marL="0">
              <a:buNone/>
            </a:pPr>
            <a:r>
              <a:rPr lang="en-US" sz="1500" dirty="0">
                <a:solidFill>
                  <a:schemeClr val="tx2"/>
                </a:solidFill>
              </a:rPr>
              <a:t>events in Finance, the most of any industry</a:t>
            </a:r>
            <a:endParaRPr lang="en-US" sz="1500" dirty="0"/>
          </a:p>
        </p:txBody>
      </p:sp>
      <p:sp>
        <p:nvSpPr>
          <p:cNvPr id="10" name="Industry note"/>
          <p:cNvSpPr txBox="1"/>
          <p:nvPr/>
        </p:nvSpPr>
        <p:spPr>
          <a:xfrm>
            <a:off x="7955280" y="5257800"/>
            <a:ext cx="3685032" cy="914400"/>
          </a:xfrm>
          <a:prstGeom prst="rect">
            <a:avLst/>
          </a:prstGeom>
          <a:noFill/>
          <a:ln/>
        </p:spPr>
        <p:txBody>
          <a:bodyPr wrap="square" lIns="0" tIns="0" rIns="0" bIns="0" rtlCol="0" anchor="t"/>
          <a:lstStyle/>
          <a:p>
            <a:pPr indent="0" marL="0">
              <a:buNone/>
            </a:pPr>
            <a:r>
              <a:rPr lang="en-US" sz="1500" dirty="0">
                <a:solidFill>
                  <a:schemeClr val="tx1"/>
                </a:solidFill>
              </a:rPr>
              <a:t>Hardware has just 44 events but the highest total, driven by Intel.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The United States dominates, at 69%</a:t>
            </a:r>
            <a:endParaRPr lang="en-US" sz="3600" dirty="0"/>
          </a:p>
        </p:txBody>
      </p:sp>
      <p:graphicFrame>
        <p:nvGraphicFramePr>
          <p:cNvPr id="3" name="Employees laid off, top 8 countries chart" descr=""/>
          <p:cNvGraphicFramePr/>
          <p:nvPr/>
        </p:nvGraphicFramePr>
        <p:xfrm>
          <a:off x="548640" y="146304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US stat card"/>
          <p:cNvSpPr/>
          <p:nvPr/>
        </p:nvSpPr>
        <p:spPr>
          <a:xfrm>
            <a:off x="7955280" y="1508760"/>
            <a:ext cx="3685032" cy="1737360"/>
          </a:xfrm>
          <a:prstGeom prst="roundRect">
            <a:avLst>
              <a:gd name="adj" fmla="val 6316"/>
            </a:avLst>
          </a:prstGeom>
          <a:solidFill>
            <a:schemeClr val="tx1"/>
          </a:solidFill>
          <a:ln/>
        </p:spPr>
      </p:sp>
      <p:sp>
        <p:nvSpPr>
          <p:cNvPr id="5" name="US stat value"/>
          <p:cNvSpPr txBox="1"/>
          <p:nvPr/>
        </p:nvSpPr>
        <p:spPr>
          <a:xfrm>
            <a:off x="8138160" y="1645920"/>
            <a:ext cx="3319272" cy="903427"/>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69%</a:t>
            </a:r>
            <a:endParaRPr lang="en-US" sz="4000" dirty="0"/>
          </a:p>
        </p:txBody>
      </p:sp>
      <p:sp>
        <p:nvSpPr>
          <p:cNvPr id="6" name="US stat label"/>
          <p:cNvSpPr txBox="1"/>
          <p:nvPr/>
        </p:nvSpPr>
        <p:spPr>
          <a:xfrm>
            <a:off x="8138160" y="2549347"/>
            <a:ext cx="3319272" cy="559613"/>
          </a:xfrm>
          <a:prstGeom prst="rect">
            <a:avLst/>
          </a:prstGeom>
          <a:noFill/>
          <a:ln/>
        </p:spPr>
        <p:txBody>
          <a:bodyPr wrap="square" lIns="0" tIns="0" rIns="0" bIns="0" rtlCol="0" anchor="t"/>
          <a:lstStyle/>
          <a:p>
            <a:pPr indent="0" marL="0">
              <a:buNone/>
            </a:pPr>
            <a:r>
              <a:rPr lang="en-US" sz="1500" dirty="0">
                <a:solidFill>
                  <a:schemeClr val="bg2"/>
                </a:solidFill>
              </a:rPr>
              <a:t>of layoffs are in the United States (518,812)</a:t>
            </a:r>
            <a:endParaRPr lang="en-US" sz="1500" dirty="0"/>
          </a:p>
        </p:txBody>
      </p:sp>
      <p:sp>
        <p:nvSpPr>
          <p:cNvPr id="7" name="Country stat card"/>
          <p:cNvSpPr/>
          <p:nvPr/>
        </p:nvSpPr>
        <p:spPr>
          <a:xfrm>
            <a:off x="7955280" y="3474720"/>
            <a:ext cx="3685032" cy="1554480"/>
          </a:xfrm>
          <a:prstGeom prst="roundRect">
            <a:avLst>
              <a:gd name="adj" fmla="val 7059"/>
            </a:avLst>
          </a:prstGeom>
          <a:solidFill>
            <a:schemeClr val="bg2"/>
          </a:solidFill>
          <a:ln/>
        </p:spPr>
      </p:sp>
      <p:sp>
        <p:nvSpPr>
          <p:cNvPr id="8" name="Country stat value"/>
          <p:cNvSpPr txBox="1"/>
          <p:nvPr/>
        </p:nvSpPr>
        <p:spPr>
          <a:xfrm>
            <a:off x="8138160" y="3611880"/>
            <a:ext cx="3319272" cy="80833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54</a:t>
            </a:r>
            <a:endParaRPr lang="en-US" sz="3400" dirty="0"/>
          </a:p>
        </p:txBody>
      </p:sp>
      <p:sp>
        <p:nvSpPr>
          <p:cNvPr id="9" name="Country stat label"/>
          <p:cNvSpPr txBox="1"/>
          <p:nvPr/>
        </p:nvSpPr>
        <p:spPr>
          <a:xfrm>
            <a:off x="8138160" y="4420210"/>
            <a:ext cx="3319272" cy="471830"/>
          </a:xfrm>
          <a:prstGeom prst="rect">
            <a:avLst/>
          </a:prstGeom>
          <a:noFill/>
          <a:ln/>
        </p:spPr>
        <p:txBody>
          <a:bodyPr wrap="square" lIns="0" tIns="0" rIns="0" bIns="0" rtlCol="0" anchor="t"/>
          <a:lstStyle/>
          <a:p>
            <a:pPr indent="0" marL="0">
              <a:buNone/>
            </a:pPr>
            <a:r>
              <a:rPr lang="en-US" sz="1500" dirty="0">
                <a:solidFill>
                  <a:schemeClr val="tx2"/>
                </a:solidFill>
              </a:rPr>
              <a:t>countries have recorded at least one event</a:t>
            </a:r>
            <a:endParaRPr lang="en-US" sz="1500" dirty="0"/>
          </a:p>
        </p:txBody>
      </p:sp>
      <p:sp>
        <p:nvSpPr>
          <p:cNvPr id="10" name="Country note"/>
          <p:cNvSpPr txBox="1"/>
          <p:nvPr/>
        </p:nvSpPr>
        <p:spPr>
          <a:xfrm>
            <a:off x="7955280" y="5257800"/>
            <a:ext cx="3685032" cy="914400"/>
          </a:xfrm>
          <a:prstGeom prst="rect">
            <a:avLst/>
          </a:prstGeom>
          <a:noFill/>
          <a:ln/>
        </p:spPr>
        <p:txBody>
          <a:bodyPr wrap="square" lIns="0" tIns="0" rIns="0" bIns="0" rtlCol="0" anchor="t"/>
          <a:lstStyle/>
          <a:p>
            <a:pPr indent="0" marL="0">
              <a:buNone/>
            </a:pPr>
            <a:r>
              <a:rPr lang="en-US" sz="1500" dirty="0">
                <a:solidFill>
                  <a:schemeClr val="tx1"/>
                </a:solidFill>
              </a:rPr>
              <a:t>India is a distant second at 59,216, ahead of Germany and the UK.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Mature, public companies cut the most</a:t>
            </a:r>
            <a:endParaRPr lang="en-US" sz="3600" dirty="0"/>
          </a:p>
        </p:txBody>
      </p:sp>
      <p:graphicFrame>
        <p:nvGraphicFramePr>
          <p:cNvPr id="3" name="Employees laid off by funding stage chart" descr=""/>
          <p:cNvGraphicFramePr/>
          <p:nvPr/>
        </p:nvGraphicFramePr>
        <p:xfrm>
          <a:off x="548640" y="146304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Post-IPO stat card"/>
          <p:cNvSpPr/>
          <p:nvPr/>
        </p:nvSpPr>
        <p:spPr>
          <a:xfrm>
            <a:off x="7955280" y="1508760"/>
            <a:ext cx="3685032" cy="1737360"/>
          </a:xfrm>
          <a:prstGeom prst="roundRect">
            <a:avLst>
              <a:gd name="adj" fmla="val 6316"/>
            </a:avLst>
          </a:prstGeom>
          <a:solidFill>
            <a:schemeClr val="tx1"/>
          </a:solidFill>
          <a:ln/>
        </p:spPr>
      </p:sp>
      <p:sp>
        <p:nvSpPr>
          <p:cNvPr id="5" name="Post-IPO stat value"/>
          <p:cNvSpPr txBox="1"/>
          <p:nvPr/>
        </p:nvSpPr>
        <p:spPr>
          <a:xfrm>
            <a:off x="8138160" y="1645920"/>
            <a:ext cx="3319272" cy="903427"/>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58%</a:t>
            </a:r>
            <a:endParaRPr lang="en-US" sz="4000" dirty="0"/>
          </a:p>
        </p:txBody>
      </p:sp>
      <p:sp>
        <p:nvSpPr>
          <p:cNvPr id="6" name="Post-IPO stat label"/>
          <p:cNvSpPr txBox="1"/>
          <p:nvPr/>
        </p:nvSpPr>
        <p:spPr>
          <a:xfrm>
            <a:off x="8138160" y="2549347"/>
            <a:ext cx="3319272" cy="559613"/>
          </a:xfrm>
          <a:prstGeom prst="rect">
            <a:avLst/>
          </a:prstGeom>
          <a:noFill/>
          <a:ln/>
        </p:spPr>
        <p:txBody>
          <a:bodyPr wrap="square" lIns="0" tIns="0" rIns="0" bIns="0" rtlCol="0" anchor="t"/>
          <a:lstStyle/>
          <a:p>
            <a:pPr indent="0" marL="0">
              <a:buNone/>
            </a:pPr>
            <a:r>
              <a:rPr lang="en-US" sz="1500" dirty="0">
                <a:solidFill>
                  <a:schemeClr val="bg2"/>
                </a:solidFill>
              </a:rPr>
              <a:t>of layoffs are at Post-IPO companies (439,048)</a:t>
            </a:r>
            <a:endParaRPr lang="en-US" sz="1500" dirty="0"/>
          </a:p>
        </p:txBody>
      </p:sp>
      <p:sp>
        <p:nvSpPr>
          <p:cNvPr id="7" name="Series B stat card"/>
          <p:cNvSpPr/>
          <p:nvPr/>
        </p:nvSpPr>
        <p:spPr>
          <a:xfrm>
            <a:off x="7955280" y="3474720"/>
            <a:ext cx="3685032" cy="1554480"/>
          </a:xfrm>
          <a:prstGeom prst="roundRect">
            <a:avLst>
              <a:gd name="adj" fmla="val 7059"/>
            </a:avLst>
          </a:prstGeom>
          <a:solidFill>
            <a:schemeClr val="bg2"/>
          </a:solidFill>
          <a:ln/>
        </p:spPr>
      </p:sp>
      <p:sp>
        <p:nvSpPr>
          <p:cNvPr id="8" name="Series B stat value"/>
          <p:cNvSpPr txBox="1"/>
          <p:nvPr/>
        </p:nvSpPr>
        <p:spPr>
          <a:xfrm>
            <a:off x="8138160" y="3611880"/>
            <a:ext cx="3319272" cy="80833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299</a:t>
            </a:r>
            <a:endParaRPr lang="en-US" sz="3400" dirty="0"/>
          </a:p>
        </p:txBody>
      </p:sp>
      <p:sp>
        <p:nvSpPr>
          <p:cNvPr id="9" name="Series B stat label"/>
          <p:cNvSpPr txBox="1"/>
          <p:nvPr/>
        </p:nvSpPr>
        <p:spPr>
          <a:xfrm>
            <a:off x="8138160" y="4420210"/>
            <a:ext cx="3319272" cy="471830"/>
          </a:xfrm>
          <a:prstGeom prst="rect">
            <a:avLst/>
          </a:prstGeom>
          <a:noFill/>
          <a:ln/>
        </p:spPr>
        <p:txBody>
          <a:bodyPr wrap="square" lIns="0" tIns="0" rIns="0" bIns="0" rtlCol="0" anchor="t"/>
          <a:lstStyle/>
          <a:p>
            <a:pPr indent="0" marL="0">
              <a:buNone/>
            </a:pPr>
            <a:r>
              <a:rPr lang="en-US" sz="1500" dirty="0">
                <a:solidFill>
                  <a:schemeClr val="tx2"/>
                </a:solidFill>
              </a:rPr>
              <a:t>Series B events, the most of any private stage</a:t>
            </a:r>
            <a:endParaRPr lang="en-US" sz="1500" dirty="0"/>
          </a:p>
        </p:txBody>
      </p:sp>
      <p:sp>
        <p:nvSpPr>
          <p:cNvPr id="10" name="Funding note"/>
          <p:cNvSpPr txBox="1"/>
          <p:nvPr/>
        </p:nvSpPr>
        <p:spPr>
          <a:xfrm>
            <a:off x="7955280" y="5257800"/>
            <a:ext cx="3685032" cy="914400"/>
          </a:xfrm>
          <a:prstGeom prst="rect">
            <a:avLst/>
          </a:prstGeom>
          <a:noFill/>
          <a:ln/>
        </p:spPr>
        <p:txBody>
          <a:bodyPr wrap="square" lIns="0" tIns="0" rIns="0" bIns="0" rtlCol="0" anchor="t"/>
          <a:lstStyle/>
          <a:p>
            <a:pPr indent="0" marL="0">
              <a:buNone/>
            </a:pPr>
            <a:r>
              <a:rPr lang="en-US" sz="1500" dirty="0">
                <a:solidFill>
                  <a:schemeClr val="tx1"/>
                </a:solidFill>
              </a:rPr>
              <a:t>Showing the eight largest of sixteen funding stages.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A few huge events drive the total</a:t>
            </a:r>
            <a:endParaRPr lang="en-US" sz="3600" dirty="0"/>
          </a:p>
        </p:txBody>
      </p:sp>
      <p:graphicFrame>
        <p:nvGraphicFramePr>
          <p:cNvPr id="3" name="Employees laid off by event size chart" descr=""/>
          <p:cNvGraphicFramePr/>
          <p:nvPr/>
        </p:nvGraphicFramePr>
        <p:xfrm>
          <a:off x="548640" y="1463040"/>
          <a:ext cx="64008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Size band table"/>
          <p:cNvGraphicFramePr>
            <a:graphicFrameLocks noGrp="1"/>
          </p:cNvGraphicFramePr>
          <p:nvPr>
            <p:extLst>
              <p:ext uri="{D42A27DB-BD31-4B8C-83A1-F6EECF244321}">
                <p14:modId xmlns:p14="http://schemas.microsoft.com/office/powerpoint/2010/main" val="1579011935"/>
              </p:ext>
            </p:extLst>
          </p:nvPr>
        </p:nvGraphicFramePr>
        <p:xfrm>
          <a:off x="7223760" y="1600200"/>
          <a:ext cx="4416552" cy="914400"/>
        </p:xfrm>
        <a:graphic>
          <a:graphicData uri="http://schemas.openxmlformats.org/drawingml/2006/table">
            <a:tbl>
              <a:tblPr/>
              <a:tblGrid>
                <a:gridCol w="1737360"/>
                <a:gridCol w="1188720"/>
                <a:gridCol w="1490472"/>
              </a:tblGrid>
              <a:tr h="457200">
                <a:tc>
                  <a:txBody>
                    <a:bodyPr/>
                    <a:lstStyle/>
                    <a:p>
                      <a:pPr algn="l" indent="0" marL="0">
                        <a:buNone/>
                      </a:pPr>
                      <a:r>
                        <a:rPr lang="en-US" sz="1500" b="1" dirty="0">
                          <a:solidFill>
                            <a:schemeClr val="bg1"/>
                          </a:solidFill>
                        </a:rPr>
                        <a:t>Event size</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c>
                  <a:txBody>
                    <a:bodyPr/>
                    <a:lstStyle/>
                    <a:p>
                      <a:pPr algn="r" indent="0" marL="0">
                        <a:buNone/>
                      </a:pPr>
                      <a:r>
                        <a:rPr lang="en-US" sz="1500" b="1" dirty="0">
                          <a:solidFill>
                            <a:schemeClr val="bg1"/>
                          </a:solidFill>
                        </a:rPr>
                        <a:t>Events</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c>
                  <a:txBody>
                    <a:bodyPr/>
                    <a:lstStyle/>
                    <a:p>
                      <a:pPr algn="r" indent="0" marL="0">
                        <a:buNone/>
                      </a:pPr>
                      <a:r>
                        <a:rPr lang="en-US" sz="1500" b="1" dirty="0">
                          <a:solidFill>
                            <a:schemeClr val="bg1"/>
                          </a:solidFill>
                        </a:rPr>
                        <a:t>Share of people</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r>
              <a:tr h="457200">
                <a:tc>
                  <a:txBody>
                    <a:bodyPr/>
                    <a:lstStyle/>
                    <a:p>
                      <a:pPr algn="l" indent="0" marL="0">
                        <a:buNone/>
                      </a:pPr>
                      <a:r>
                        <a:rPr lang="en-US" sz="1500" dirty="0">
                          <a:solidFill>
                            <a:schemeClr val="tx1"/>
                          </a:solidFill>
                        </a:rPr>
                        <a:t>Under 50</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815</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3%</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r h="457200">
                <a:tc>
                  <a:txBody>
                    <a:bodyPr/>
                    <a:lstStyle/>
                    <a:p>
                      <a:pPr algn="l" indent="0" marL="0">
                        <a:buNone/>
                      </a:pPr>
                      <a:r>
                        <a:rPr lang="en-US" sz="1500" dirty="0">
                          <a:solidFill>
                            <a:schemeClr val="tx1"/>
                          </a:solidFill>
                        </a:rPr>
                        <a:t>50–199</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1,171</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15%</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r>
              <a:tr h="457200">
                <a:tc>
                  <a:txBody>
                    <a:bodyPr/>
                    <a:lstStyle/>
                    <a:p>
                      <a:pPr algn="l" indent="0" marL="0">
                        <a:buNone/>
                      </a:pPr>
                      <a:r>
                        <a:rPr lang="en-US" sz="1500" dirty="0">
                          <a:solidFill>
                            <a:schemeClr val="tx1"/>
                          </a:solidFill>
                        </a:rPr>
                        <a:t>200–999</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545</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27%</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r h="457200">
                <a:tc>
                  <a:txBody>
                    <a:bodyPr/>
                    <a:lstStyle/>
                    <a:p>
                      <a:pPr algn="l" indent="0" marL="0">
                        <a:buNone/>
                      </a:pPr>
                      <a:r>
                        <a:rPr lang="en-US" sz="1500" dirty="0">
                          <a:solidFill>
                            <a:schemeClr val="tx1"/>
                          </a:solidFill>
                        </a:rPr>
                        <a:t>1,000–4,999</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122</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29%</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r>
              <a:tr h="457200">
                <a:tc>
                  <a:txBody>
                    <a:bodyPr/>
                    <a:lstStyle/>
                    <a:p>
                      <a:pPr algn="l" indent="0" marL="0">
                        <a:buNone/>
                      </a:pPr>
                      <a:r>
                        <a:rPr lang="en-US" sz="1500" b="1" dirty="0">
                          <a:solidFill>
                            <a:schemeClr val="tx1"/>
                          </a:solidFill>
                        </a:rPr>
                        <a:t>5,000+</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tx1"/>
                          </a:solidFill>
                        </a:rPr>
                        <a:t>20</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tx1"/>
                          </a:solidFill>
                        </a:rPr>
                        <a:t>26%</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bl>
          </a:graphicData>
        </a:graphic>
      </p:graphicFrame>
      <p:sp>
        <p:nvSpPr>
          <p:cNvPr id="5" name="Size insight card"/>
          <p:cNvSpPr/>
          <p:nvPr/>
        </p:nvSpPr>
        <p:spPr>
          <a:xfrm>
            <a:off x="7223760" y="4572000"/>
            <a:ext cx="4416552" cy="1554480"/>
          </a:xfrm>
          <a:prstGeom prst="roundRect">
            <a:avLst>
              <a:gd name="adj" fmla="val 7059"/>
            </a:avLst>
          </a:prstGeom>
          <a:solidFill>
            <a:schemeClr val="tx1"/>
          </a:solidFill>
          <a:ln/>
        </p:spPr>
      </p:sp>
      <p:sp>
        <p:nvSpPr>
          <p:cNvPr id="6" name="Size insight text"/>
          <p:cNvSpPr txBox="1"/>
          <p:nvPr/>
        </p:nvSpPr>
        <p:spPr>
          <a:xfrm>
            <a:off x="7452360" y="4572000"/>
            <a:ext cx="3977640" cy="1554480"/>
          </a:xfrm>
          <a:prstGeom prst="rect">
            <a:avLst/>
          </a:prstGeom>
          <a:noFill/>
          <a:ln/>
        </p:spPr>
        <p:txBody>
          <a:bodyPr wrap="square" lIns="0" tIns="0" rIns="0" bIns="0" rtlCol="0" anchor="ctr"/>
          <a:lstStyle/>
          <a:p>
            <a:pPr indent="0" marL="0">
              <a:buNone/>
            </a:pPr>
            <a:r>
              <a:rPr lang="en-US" sz="1500" dirty="0">
                <a:solidFill>
                  <a:schemeClr val="bg2"/>
                </a:solidFill>
              </a:rPr>
              <a:t>Just 20 events of 5,000+ people equal 26% of the total, while 1,986 events under 200 people make up 18%.</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The six largest single layoffs</a:t>
            </a:r>
            <a:endParaRPr lang="en-US" sz="3600" dirty="0"/>
          </a:p>
        </p:txBody>
      </p:sp>
      <p:graphicFrame>
        <p:nvGraphicFramePr>
          <p:cNvPr id="10" name="Largest events table"/>
          <p:cNvGraphicFramePr>
            <a:graphicFrameLocks noGrp="1"/>
          </p:cNvGraphicFramePr>
          <p:nvPr>
            <p:extLst>
              <p:ext uri="{D42A27DB-BD31-4B8C-83A1-F6EECF244321}">
                <p14:modId xmlns:p14="http://schemas.microsoft.com/office/powerpoint/2010/main" val="1579011935"/>
              </p:ext>
            </p:extLst>
          </p:nvPr>
        </p:nvGraphicFramePr>
        <p:xfrm>
          <a:off x="548640" y="1554480"/>
          <a:ext cx="7132320" cy="914400"/>
        </p:xfrm>
        <a:graphic>
          <a:graphicData uri="http://schemas.openxmlformats.org/drawingml/2006/table">
            <a:tbl>
              <a:tblPr/>
              <a:tblGrid>
                <a:gridCol w="1737360"/>
                <a:gridCol w="2194560"/>
                <a:gridCol w="1828800"/>
                <a:gridCol w="1371600"/>
              </a:tblGrid>
              <a:tr h="548640">
                <a:tc>
                  <a:txBody>
                    <a:bodyPr/>
                    <a:lstStyle/>
                    <a:p>
                      <a:pPr algn="l" indent="0" marL="0">
                        <a:buNone/>
                      </a:pPr>
                      <a:r>
                        <a:rPr lang="en-US" sz="1500" b="1" dirty="0">
                          <a:solidFill>
                            <a:schemeClr val="bg1"/>
                          </a:solidFill>
                        </a:rPr>
                        <a:t>Company</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Industry</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Date</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c>
                  <a:txBody>
                    <a:bodyPr/>
                    <a:lstStyle/>
                    <a:p>
                      <a:pPr algn="r" indent="0" marL="0">
                        <a:buNone/>
                      </a:pPr>
                      <a:r>
                        <a:rPr lang="en-US" sz="1500" b="1" dirty="0">
                          <a:solidFill>
                            <a:schemeClr val="bg1"/>
                          </a:solidFill>
                        </a:rPr>
                        <a:t>Laid off</a:t>
                      </a:r>
                      <a:endParaRPr lang="en-US" sz="15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tx1"/>
                    </a:solidFill>
                  </a:tcPr>
                </a:tc>
              </a:tr>
              <a:tr h="548640">
                <a:tc>
                  <a:txBody>
                    <a:bodyPr/>
                    <a:lstStyle/>
                    <a:p>
                      <a:pPr algn="l" indent="0" marL="0">
                        <a:buNone/>
                      </a:pPr>
                      <a:r>
                        <a:rPr lang="en-US" sz="1600" b="1" dirty="0">
                          <a:solidFill>
                            <a:schemeClr val="tx1"/>
                          </a:solidFill>
                        </a:rPr>
                        <a:t>Intel</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Hardware</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23 Apr 2025</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600" b="1" dirty="0">
                          <a:solidFill>
                            <a:schemeClr val="accent1"/>
                          </a:solidFill>
                        </a:rPr>
                        <a:t>22,000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r h="548640">
                <a:tc>
                  <a:txBody>
                    <a:bodyPr/>
                    <a:lstStyle/>
                    <a:p>
                      <a:pPr algn="l" indent="0" marL="0">
                        <a:buNone/>
                      </a:pPr>
                      <a:r>
                        <a:rPr lang="en-US" sz="1600" b="1" dirty="0">
                          <a:solidFill>
                            <a:schemeClr val="tx1"/>
                          </a:solidFill>
                        </a:rPr>
                        <a:t>Intel</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Hardware</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1 Aug 2024</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600" b="1" dirty="0">
                          <a:solidFill>
                            <a:schemeClr val="accent1"/>
                          </a:solidFill>
                        </a:rPr>
                        <a:t>15,000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r>
              <a:tr h="548640">
                <a:tc>
                  <a:txBody>
                    <a:bodyPr/>
                    <a:lstStyle/>
                    <a:p>
                      <a:pPr algn="l" indent="0" marL="0">
                        <a:buNone/>
                      </a:pPr>
                      <a:r>
                        <a:rPr lang="en-US" sz="1600" b="1" dirty="0">
                          <a:solidFill>
                            <a:schemeClr val="tx1"/>
                          </a:solidFill>
                        </a:rPr>
                        <a:t>Tesla</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Transportation</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15 Apr 2024</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600" b="1" dirty="0">
                          <a:solidFill>
                            <a:schemeClr val="accent1"/>
                          </a:solidFill>
                        </a:rPr>
                        <a:t>14,000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r h="548640">
                <a:tc>
                  <a:txBody>
                    <a:bodyPr/>
                    <a:lstStyle/>
                    <a:p>
                      <a:pPr algn="l" indent="0" marL="0">
                        <a:buNone/>
                      </a:pPr>
                      <a:r>
                        <a:rPr lang="en-US" sz="1600" b="1" dirty="0">
                          <a:solidFill>
                            <a:schemeClr val="tx1"/>
                          </a:solidFill>
                        </a:rPr>
                        <a:t>Google</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Consumer</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20 Jan 2023</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600" b="1" dirty="0">
                          <a:solidFill>
                            <a:schemeClr val="accent1"/>
                          </a:solidFill>
                        </a:rPr>
                        <a:t>12,000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r>
              <a:tr h="548640">
                <a:tc>
                  <a:txBody>
                    <a:bodyPr/>
                    <a:lstStyle/>
                    <a:p>
                      <a:pPr algn="l" indent="0" marL="0">
                        <a:buNone/>
                      </a:pPr>
                      <a:r>
                        <a:rPr lang="en-US" sz="1600" b="1" dirty="0">
                          <a:solidFill>
                            <a:schemeClr val="tx1"/>
                          </a:solidFill>
                        </a:rPr>
                        <a:t>Meta</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Consumer</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9 Nov 2022</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c>
                  <a:txBody>
                    <a:bodyPr/>
                    <a:lstStyle/>
                    <a:p>
                      <a:pPr algn="r" indent="0" marL="0">
                        <a:buNone/>
                      </a:pPr>
                      <a:r>
                        <a:rPr lang="en-US" sz="1600" b="1" dirty="0">
                          <a:solidFill>
                            <a:schemeClr val="accent1"/>
                          </a:solidFill>
                        </a:rPr>
                        <a:t>11,000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1"/>
                    </a:solidFill>
                  </a:tcPr>
                </a:tc>
              </a:tr>
              <a:tr h="548640">
                <a:tc>
                  <a:txBody>
                    <a:bodyPr/>
                    <a:lstStyle/>
                    <a:p>
                      <a:pPr algn="l" indent="0" marL="0">
                        <a:buNone/>
                      </a:pPr>
                      <a:r>
                        <a:rPr lang="en-US" sz="1600" b="1" dirty="0">
                          <a:solidFill>
                            <a:schemeClr val="tx1"/>
                          </a:solidFill>
                        </a:rPr>
                        <a:t>Amazon</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Retail</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16 Nov 2022</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c>
                  <a:txBody>
                    <a:bodyPr/>
                    <a:lstStyle/>
                    <a:p>
                      <a:pPr algn="r" indent="0" marL="0">
                        <a:buNone/>
                      </a:pPr>
                      <a:r>
                        <a:rPr lang="en-US" sz="1600" b="1" dirty="0">
                          <a:solidFill>
                            <a:schemeClr val="accent1"/>
                          </a:solidFill>
                        </a:rPr>
                        <a:t>10,000</a:t>
                      </a:r>
                      <a:endParaRPr lang="en-US" sz="1600" dirty="0"/>
                    </a:p>
                  </a:txBody>
                  <a:tcPr marL="109728" marR="109728" marT="0" marB="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chemeClr val="bg2"/>
                    </a:solidFill>
                  </a:tcPr>
                </a:tc>
              </a:tr>
            </a:tbl>
          </a:graphicData>
        </a:graphic>
      </p:graphicFrame>
      <p:sp>
        <p:nvSpPr>
          <p:cNvPr id="4" name="Mega stat card"/>
          <p:cNvSpPr/>
          <p:nvPr/>
        </p:nvSpPr>
        <p:spPr>
          <a:xfrm>
            <a:off x="7955280" y="1554480"/>
            <a:ext cx="3685032" cy="1737360"/>
          </a:xfrm>
          <a:prstGeom prst="roundRect">
            <a:avLst>
              <a:gd name="adj" fmla="val 6316"/>
            </a:avLst>
          </a:prstGeom>
          <a:solidFill>
            <a:schemeClr val="tx1"/>
          </a:solidFill>
          <a:ln/>
        </p:spPr>
      </p:sp>
      <p:sp>
        <p:nvSpPr>
          <p:cNvPr id="5" name="Mega stat value"/>
          <p:cNvSpPr txBox="1"/>
          <p:nvPr/>
        </p:nvSpPr>
        <p:spPr>
          <a:xfrm>
            <a:off x="8138160" y="1691640"/>
            <a:ext cx="3319272" cy="903427"/>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20</a:t>
            </a:r>
            <a:endParaRPr lang="en-US" sz="4000" dirty="0"/>
          </a:p>
        </p:txBody>
      </p:sp>
      <p:sp>
        <p:nvSpPr>
          <p:cNvPr id="6" name="Mega stat label"/>
          <p:cNvSpPr txBox="1"/>
          <p:nvPr/>
        </p:nvSpPr>
        <p:spPr>
          <a:xfrm>
            <a:off x="8138160" y="2595067"/>
            <a:ext cx="3319272" cy="559613"/>
          </a:xfrm>
          <a:prstGeom prst="rect">
            <a:avLst/>
          </a:prstGeom>
          <a:noFill/>
          <a:ln/>
        </p:spPr>
        <p:txBody>
          <a:bodyPr wrap="square" lIns="0" tIns="0" rIns="0" bIns="0" rtlCol="0" anchor="t"/>
          <a:lstStyle/>
          <a:p>
            <a:pPr indent="0" marL="0">
              <a:buNone/>
            </a:pPr>
            <a:r>
              <a:rPr lang="en-US" sz="1500" dirty="0">
                <a:solidFill>
                  <a:schemeClr val="bg2"/>
                </a:solidFill>
              </a:rPr>
              <a:t>events of 5,000+ people in total</a:t>
            </a:r>
            <a:endParaRPr lang="en-US" sz="1500" dirty="0"/>
          </a:p>
        </p:txBody>
      </p:sp>
      <p:sp>
        <p:nvSpPr>
          <p:cNvPr id="7" name="Event note card"/>
          <p:cNvSpPr/>
          <p:nvPr/>
        </p:nvSpPr>
        <p:spPr>
          <a:xfrm>
            <a:off x="7955280" y="3520440"/>
            <a:ext cx="3685032" cy="2286000"/>
          </a:xfrm>
          <a:prstGeom prst="roundRect">
            <a:avLst>
              <a:gd name="adj" fmla="val 4800"/>
            </a:avLst>
          </a:prstGeom>
          <a:solidFill>
            <a:schemeClr val="bg2"/>
          </a:solidFill>
          <a:ln/>
        </p:spPr>
      </p:sp>
      <p:sp>
        <p:nvSpPr>
          <p:cNvPr id="8" name="Event note text"/>
          <p:cNvSpPr txBox="1"/>
          <p:nvPr/>
        </p:nvSpPr>
        <p:spPr>
          <a:xfrm>
            <a:off x="8183880" y="3520440"/>
            <a:ext cx="3246120" cy="2286000"/>
          </a:xfrm>
          <a:prstGeom prst="rect">
            <a:avLst/>
          </a:prstGeom>
          <a:noFill/>
          <a:ln/>
        </p:spPr>
        <p:txBody>
          <a:bodyPr wrap="square" lIns="0" tIns="0" rIns="0" bIns="0" rtlCol="0" anchor="ctr"/>
          <a:lstStyle/>
          <a:p>
            <a:pPr indent="0" marL="0">
              <a:buNone/>
            </a:pPr>
            <a:r>
              <a:rPr lang="en-US" sz="1500" dirty="0">
                <a:solidFill>
                  <a:schemeClr val="tx1"/>
                </a:solidFill>
              </a:rPr>
              <a:t>Intel has two of the three largest events. Two more cuts of 10,000 also tie with Amazon: Meta (Mar 2023) and Microsoft (Jan 2023).</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Dashboard and data notes</a:t>
            </a:r>
            <a:endParaRPr lang="en-US" sz="3600" dirty="0"/>
          </a:p>
        </p:txBody>
      </p:sp>
      <p:sp>
        <p:nvSpPr>
          <p:cNvPr id="3" name="Note 1 card"/>
          <p:cNvSpPr/>
          <p:nvPr/>
        </p:nvSpPr>
        <p:spPr>
          <a:xfrm>
            <a:off x="548640" y="1508760"/>
            <a:ext cx="5408676" cy="2286000"/>
          </a:xfrm>
          <a:prstGeom prst="roundRect">
            <a:avLst>
              <a:gd name="adj" fmla="val 4800"/>
            </a:avLst>
          </a:prstGeom>
          <a:solidFill>
            <a:schemeClr val="bg2"/>
          </a:solidFill>
          <a:ln/>
        </p:spPr>
      </p:sp>
      <p:sp>
        <p:nvSpPr>
          <p:cNvPr id="4" name="Note 1 badge"/>
          <p:cNvSpPr/>
          <p:nvPr/>
        </p:nvSpPr>
        <p:spPr>
          <a:xfrm>
            <a:off x="777240" y="1737360"/>
            <a:ext cx="502920" cy="502920"/>
          </a:xfrm>
          <a:prstGeom prst="ellipse">
            <a:avLst/>
          </a:prstGeom>
          <a:solidFill>
            <a:schemeClr val="accent2"/>
          </a:solidFill>
          <a:ln/>
        </p:spPr>
      </p:sp>
      <p:sp>
        <p:nvSpPr>
          <p:cNvPr id="5" name="Note 1 number"/>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6" name="Note 1 title"/>
          <p:cNvSpPr txBox="1"/>
          <p:nvPr/>
        </p:nvSpPr>
        <p:spPr>
          <a:xfrm>
            <a:off x="1508760" y="1737360"/>
            <a:ext cx="4219956"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KPI cards overcount</a:t>
            </a:r>
            <a:endParaRPr lang="en-US" sz="1800" dirty="0"/>
          </a:p>
        </p:txBody>
      </p:sp>
      <p:sp>
        <p:nvSpPr>
          <p:cNvPr id="7" name="Note 1 text"/>
          <p:cNvSpPr txBox="1"/>
          <p:nvPr/>
        </p:nvSpPr>
        <p:spPr>
          <a:xfrm>
            <a:off x="822960" y="2423160"/>
            <a:ext cx="4860036" cy="1280160"/>
          </a:xfrm>
          <a:prstGeom prst="rect">
            <a:avLst/>
          </a:prstGeom>
          <a:noFill/>
          <a:ln/>
        </p:spPr>
        <p:txBody>
          <a:bodyPr wrap="square" lIns="0" tIns="0" rIns="0" bIns="0" rtlCol="0" anchor="t"/>
          <a:lstStyle/>
          <a:p>
            <a:pPr indent="0" marL="0">
              <a:buNone/>
            </a:pPr>
            <a:r>
              <a:rPr lang="en-US" sz="1500" dirty="0">
                <a:solidFill>
                  <a:schemeClr val="tx1"/>
                </a:solidFill>
              </a:rPr>
              <a:t>The cards use COUNT, so companies, countries and industries all show about 2,673 (the row count). Distinct counts are 1,902 companies, 54 countries and 30 industries. Switch the measures to DISTINCTCOUNT.</a:t>
            </a:r>
            <a:endParaRPr lang="en-US" sz="1500" dirty="0"/>
          </a:p>
        </p:txBody>
      </p:sp>
      <p:sp>
        <p:nvSpPr>
          <p:cNvPr id="8" name="Note 2 card"/>
          <p:cNvSpPr/>
          <p:nvPr/>
        </p:nvSpPr>
        <p:spPr>
          <a:xfrm>
            <a:off x="6231636" y="1508760"/>
            <a:ext cx="5408676" cy="2286000"/>
          </a:xfrm>
          <a:prstGeom prst="roundRect">
            <a:avLst>
              <a:gd name="adj" fmla="val 4800"/>
            </a:avLst>
          </a:prstGeom>
          <a:solidFill>
            <a:schemeClr val="bg2"/>
          </a:solidFill>
          <a:ln/>
        </p:spPr>
      </p:sp>
      <p:sp>
        <p:nvSpPr>
          <p:cNvPr id="9" name="Note 2 badge"/>
          <p:cNvSpPr/>
          <p:nvPr/>
        </p:nvSpPr>
        <p:spPr>
          <a:xfrm>
            <a:off x="6460236" y="1737360"/>
            <a:ext cx="502920" cy="502920"/>
          </a:xfrm>
          <a:prstGeom prst="ellipse">
            <a:avLst/>
          </a:prstGeom>
          <a:solidFill>
            <a:schemeClr val="accent2"/>
          </a:solidFill>
          <a:ln/>
        </p:spPr>
      </p:sp>
      <p:sp>
        <p:nvSpPr>
          <p:cNvPr id="10" name="Note 2 number"/>
          <p:cNvSpPr txBox="1"/>
          <p:nvPr/>
        </p:nvSpPr>
        <p:spPr>
          <a:xfrm>
            <a:off x="6460236" y="17373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1" name="Note 2 title"/>
          <p:cNvSpPr txBox="1"/>
          <p:nvPr/>
        </p:nvSpPr>
        <p:spPr>
          <a:xfrm>
            <a:off x="7191756" y="1737360"/>
            <a:ext cx="4219956"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Partial first and last years</a:t>
            </a:r>
            <a:endParaRPr lang="en-US" sz="1800" dirty="0"/>
          </a:p>
        </p:txBody>
      </p:sp>
      <p:sp>
        <p:nvSpPr>
          <p:cNvPr id="12" name="Note 2 text"/>
          <p:cNvSpPr txBox="1"/>
          <p:nvPr/>
        </p:nvSpPr>
        <p:spPr>
          <a:xfrm>
            <a:off x="6505956" y="2423160"/>
            <a:ext cx="4860036" cy="1280160"/>
          </a:xfrm>
          <a:prstGeom prst="rect">
            <a:avLst/>
          </a:prstGeom>
          <a:noFill/>
          <a:ln/>
        </p:spPr>
        <p:txBody>
          <a:bodyPr wrap="square" lIns="0" tIns="0" rIns="0" bIns="0" rtlCol="0" anchor="t"/>
          <a:lstStyle/>
          <a:p>
            <a:pPr indent="0" marL="0">
              <a:buNone/>
            </a:pPr>
            <a:r>
              <a:rPr lang="en-US" sz="1500" dirty="0">
                <a:solidFill>
                  <a:schemeClr val="tx1"/>
                </a:solidFill>
              </a:rPr>
              <a:t>2020 starts 11 Mar and 2025 ends 2 Jul, so yearly totals are not like-for-like. Compare 2021–2024 for full years.</a:t>
            </a:r>
            <a:endParaRPr lang="en-US" sz="1500" dirty="0"/>
          </a:p>
        </p:txBody>
      </p:sp>
      <p:sp>
        <p:nvSpPr>
          <p:cNvPr id="13" name="Note 3 card"/>
          <p:cNvSpPr/>
          <p:nvPr/>
        </p:nvSpPr>
        <p:spPr>
          <a:xfrm>
            <a:off x="548640" y="3977640"/>
            <a:ext cx="5408676" cy="2286000"/>
          </a:xfrm>
          <a:prstGeom prst="roundRect">
            <a:avLst>
              <a:gd name="adj" fmla="val 4800"/>
            </a:avLst>
          </a:prstGeom>
          <a:solidFill>
            <a:schemeClr val="bg2"/>
          </a:solidFill>
          <a:ln/>
        </p:spPr>
      </p:sp>
      <p:sp>
        <p:nvSpPr>
          <p:cNvPr id="14" name="Note 3 badge"/>
          <p:cNvSpPr/>
          <p:nvPr/>
        </p:nvSpPr>
        <p:spPr>
          <a:xfrm>
            <a:off x="777240" y="4206240"/>
            <a:ext cx="502920" cy="502920"/>
          </a:xfrm>
          <a:prstGeom prst="ellipse">
            <a:avLst/>
          </a:prstGeom>
          <a:solidFill>
            <a:schemeClr val="accent2"/>
          </a:solidFill>
          <a:ln/>
        </p:spPr>
      </p:sp>
      <p:sp>
        <p:nvSpPr>
          <p:cNvPr id="15" name="Note 3 number"/>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16" name="Note 3 title"/>
          <p:cNvSpPr txBox="1"/>
          <p:nvPr/>
        </p:nvSpPr>
        <p:spPr>
          <a:xfrm>
            <a:off x="1508760" y="4206240"/>
            <a:ext cx="4219956"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Empty columns</a:t>
            </a:r>
            <a:endParaRPr lang="en-US" sz="1800" dirty="0"/>
          </a:p>
        </p:txBody>
      </p:sp>
      <p:sp>
        <p:nvSpPr>
          <p:cNvPr id="17" name="Note 3 text"/>
          <p:cNvSpPr txBox="1"/>
          <p:nvPr/>
        </p:nvSpPr>
        <p:spPr>
          <a:xfrm>
            <a:off x="822960" y="4892040"/>
            <a:ext cx="4860036" cy="1280160"/>
          </a:xfrm>
          <a:prstGeom prst="rect">
            <a:avLst/>
          </a:prstGeom>
          <a:noFill/>
          <a:ln/>
        </p:spPr>
        <p:txBody>
          <a:bodyPr wrap="square" lIns="0" tIns="0" rIns="0" bIns="0" rtlCol="0" anchor="t"/>
          <a:lstStyle/>
          <a:p>
            <a:pPr indent="0" marL="0">
              <a:buNone/>
            </a:pPr>
            <a:r>
              <a:rPr lang="en-US" sz="1500" dirty="0">
                <a:solidFill>
                  <a:schemeClr val="tx1"/>
                </a:solidFill>
              </a:rPr>
              <a:t>ai_related, funding_usd_millions and funding_band are blank in every row, so no AI or funding-size analysis is possible yet.</a:t>
            </a:r>
            <a:endParaRPr lang="en-US" sz="1500" dirty="0"/>
          </a:p>
        </p:txBody>
      </p:sp>
      <p:sp>
        <p:nvSpPr>
          <p:cNvPr id="18" name="Note 4 card"/>
          <p:cNvSpPr/>
          <p:nvPr/>
        </p:nvSpPr>
        <p:spPr>
          <a:xfrm>
            <a:off x="6231636" y="3977640"/>
            <a:ext cx="5408676" cy="2286000"/>
          </a:xfrm>
          <a:prstGeom prst="roundRect">
            <a:avLst>
              <a:gd name="adj" fmla="val 4800"/>
            </a:avLst>
          </a:prstGeom>
          <a:solidFill>
            <a:schemeClr val="bg2"/>
          </a:solidFill>
          <a:ln/>
        </p:spPr>
      </p:sp>
      <p:sp>
        <p:nvSpPr>
          <p:cNvPr id="19" name="Note 4 badge"/>
          <p:cNvSpPr/>
          <p:nvPr/>
        </p:nvSpPr>
        <p:spPr>
          <a:xfrm>
            <a:off x="6460236" y="4206240"/>
            <a:ext cx="502920" cy="502920"/>
          </a:xfrm>
          <a:prstGeom prst="ellipse">
            <a:avLst/>
          </a:prstGeom>
          <a:solidFill>
            <a:schemeClr val="accent2"/>
          </a:solidFill>
          <a:ln/>
        </p:spPr>
      </p:sp>
      <p:sp>
        <p:nvSpPr>
          <p:cNvPr id="20" name="Note 4 number"/>
          <p:cNvSpPr txBox="1"/>
          <p:nvPr/>
        </p:nvSpPr>
        <p:spPr>
          <a:xfrm>
            <a:off x="6460236" y="42062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4</a:t>
            </a:r>
            <a:endParaRPr lang="en-US" sz="1800" dirty="0"/>
          </a:p>
        </p:txBody>
      </p:sp>
      <p:sp>
        <p:nvSpPr>
          <p:cNvPr id="21" name="Note 4 title"/>
          <p:cNvSpPr txBox="1"/>
          <p:nvPr/>
        </p:nvSpPr>
        <p:spPr>
          <a:xfrm>
            <a:off x="7191756" y="4206240"/>
            <a:ext cx="4219956"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Minor gaps</a:t>
            </a:r>
            <a:endParaRPr lang="en-US" sz="1800" dirty="0"/>
          </a:p>
        </p:txBody>
      </p:sp>
      <p:sp>
        <p:nvSpPr>
          <p:cNvPr id="22" name="Note 4 text"/>
          <p:cNvSpPr txBox="1"/>
          <p:nvPr/>
        </p:nvSpPr>
        <p:spPr>
          <a:xfrm>
            <a:off x="6505956" y="4892040"/>
            <a:ext cx="4860036" cy="1280160"/>
          </a:xfrm>
          <a:prstGeom prst="rect">
            <a:avLst/>
          </a:prstGeom>
          <a:noFill/>
          <a:ln/>
        </p:spPr>
        <p:txBody>
          <a:bodyPr wrap="square" lIns="0" tIns="0" rIns="0" bIns="0" rtlCol="0" anchor="t"/>
          <a:lstStyle/>
          <a:p>
            <a:pPr indent="0" marL="0">
              <a:buNone/>
            </a:pPr>
            <a:r>
              <a:rPr lang="en-US" sz="1500" dirty="0">
                <a:solidFill>
                  <a:schemeClr val="tx1"/>
                </a:solidFill>
              </a:rPr>
              <a:t>One event has no industry (Appsmith) and three have no funding stage. “Other” and “Unknown” categories are large, so rankings are approximate.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463040"/>
          </a:xfrm>
          <a:prstGeom prst="rect">
            <a:avLst/>
          </a:prstGeom>
          <a:noFill/>
          <a:ln/>
        </p:spPr>
        <p:txBody>
          <a:bodyPr wrap="square" lIns="0" tIns="0" rIns="0" bIns="0" rtlCol="0" anchor="b"/>
          <a:lstStyle/>
          <a:p>
            <a:pPr algn="l" indent="0" marL="0">
              <a:buNone/>
            </a:pPr>
            <a:r>
              <a:rPr lang="en-US" sz="5200" b="1" dirty="0">
                <a:solidFill>
                  <a:schemeClr val="bg1"/>
                </a:solidFill>
              </a:rPr>
              <a:t>Key takeaways</a:t>
            </a:r>
            <a:endParaRPr lang="en-US" sz="5200" dirty="0"/>
          </a:p>
        </p:txBody>
      </p:sp>
      <p:sp>
        <p:nvSpPr>
          <p:cNvPr id="3" name="Text 0"/>
          <p:cNvSpPr/>
          <p:nvPr>
            <p:ph idx="101" type="body" hasCustomPrompt="1"/>
          </p:nvPr>
        </p:nvSpPr>
        <p:spPr>
          <a:xfrm>
            <a:off x="731520" y="3794760"/>
            <a:ext cx="9601200" cy="1097280"/>
          </a:xfrm>
          <a:prstGeom prst="rect">
            <a:avLst/>
          </a:prstGeom>
          <a:noFill/>
          <a:ln/>
        </p:spPr>
        <p:txBody>
          <a:bodyPr wrap="square" lIns="0" tIns="0" rIns="0" bIns="0" rtlCol="0" anchor="t"/>
          <a:lstStyle/>
          <a:p>
            <a:pPr algn="l" marL="342900" indent="-342900">
              <a:spcAft>
                <a:spcPts val="1000"/>
              </a:spcAft>
              <a:buSzPct val="100000"/>
              <a:buChar char="•"/>
            </a:pPr>
            <a:r>
              <a:rPr lang="en-US" sz="2200" dirty="0">
                <a:solidFill>
                  <a:schemeClr val="bg2"/>
                </a:solidFill>
              </a:rPr>
              <a:t>Layoffs peaked in 2022–2023 and have fallen since</a:t>
            </a:r>
            <a:endParaRPr lang="en-US" sz="2200" dirty="0"/>
          </a:p>
          <a:p>
            <a:pPr algn="l" marL="342900" indent="-342900">
              <a:spcAft>
                <a:spcPts val="1000"/>
              </a:spcAft>
              <a:buSzPct val="100000"/>
              <a:buChar char="•"/>
            </a:pPr>
            <a:r>
              <a:rPr lang="en-US" sz="2200" dirty="0">
                <a:solidFill>
                  <a:schemeClr val="bg2"/>
                </a:solidFill>
              </a:rPr>
              <a:t>The US, Post-IPO companies and a handful of large events drive most of the total</a:t>
            </a:r>
            <a:endParaRPr lang="en-US" sz="2200" dirty="0"/>
          </a:p>
          <a:p>
            <a:pPr algn="l" marL="342900" indent="-342900">
              <a:spcAft>
                <a:spcPts val="1000"/>
              </a:spcAft>
              <a:buSzPct val="100000"/>
              <a:buChar char="•"/>
            </a:pPr>
            <a:r>
              <a:rPr lang="en-US" sz="2200" dirty="0">
                <a:solidFill>
                  <a:schemeClr val="bg2"/>
                </a:solidFill>
              </a:rPr>
              <a:t>Fix the KPI measures and fill the empty columns before the next refresh</a:t>
            </a:r>
            <a:endParaRPr lang="en-US" sz="2200" dirty="0"/>
          </a:p>
        </p:txBody>
      </p:sp>
    </p:spTree>
  </p:cSld>
  <p:clrMapOvr>
    <a:masterClrMapping/>
  </p:clrMapOvr>
</p:sld>
</file>

<file path=ppt/theme/theme1.xml><?xml version="1.0" encoding="utf-8"?>
<a:theme xmlns:a="http://schemas.openxmlformats.org/drawingml/2006/main" name="Layoffs Report">
  <a:themeElements>
    <a:clrScheme name="Layoffs Report">
      <a:dk1>
        <a:srgbClr val="1F2933"/>
      </a:dk1>
      <a:lt1>
        <a:srgbClr val="FFFFFF"/>
      </a:lt1>
      <a:dk2>
        <a:srgbClr val="C0392B"/>
      </a:dk2>
      <a:lt2>
        <a:srgbClr val="F1F3F5"/>
      </a:lt2>
      <a:accent1>
        <a:srgbClr val="C0392B"/>
      </a:accent1>
      <a:accent2>
        <a:srgbClr val="E8A33D"/>
      </a:accent2>
      <a:accent3>
        <a:srgbClr val="1F2933"/>
      </a:accent3>
      <a:accent4>
        <a:srgbClr val="7B8794"/>
      </a:accent4>
      <a:accent5>
        <a:srgbClr val="2F6F8F"/>
      </a:accent5>
      <a:accent6>
        <a:srgbClr val="9AA5B1"/>
      </a:accent6>
      <a:hlink>
        <a:srgbClr val="C0392B"/>
      </a:hlink>
      <a:folHlink>
        <a:srgbClr val="7B8794"/>
      </a:folHlink>
    </a:clrScheme>
    <a:fontScheme name="Layoffs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Layoffs Report 2020–2025</dc:title>
  <dc:subject>PptxGenJS Presentation</dc:subject>
  <dc:creator>PptxGenJS</dc:creator>
  <cp:lastModifiedBy>PptxGenJS</cp:lastModifiedBy>
  <cp:revision>1</cp:revision>
  <dcterms:created xsi:type="dcterms:W3CDTF">2026-10-18T19:23:18Z</dcterms:created>
  <dcterms:modified xsi:type="dcterms:W3CDTF">2026-10-18T19:23:18Z</dcterms:modified>
</cp:coreProperties>
</file>